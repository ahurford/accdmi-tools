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Lst>
  <p:sldSz cy="6858000" cx="12192000"/>
  <p:notesSz cx="6858000" cy="9144000"/>
  <p:embeddedFontLst>
    <p:embeddedFont>
      <p:font typeface="Play"/>
      <p:regular r:id="rId31"/>
      <p:bold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3" roundtripDataSignature="AMtx7mjA5qQJ34kYcr5TYMl+RlJPAdBIB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Play-regular.fntdata"/><Relationship Id="rId30" Type="http://schemas.openxmlformats.org/officeDocument/2006/relationships/slide" Target="slides/slide26.xml"/><Relationship Id="rId11" Type="http://schemas.openxmlformats.org/officeDocument/2006/relationships/slide" Target="slides/slide7.xml"/><Relationship Id="rId33" Type="http://customschemas.google.com/relationships/presentationmetadata" Target="metadata"/><Relationship Id="rId10" Type="http://schemas.openxmlformats.org/officeDocument/2006/relationships/slide" Target="slides/slide6.xml"/><Relationship Id="rId32" Type="http://schemas.openxmlformats.org/officeDocument/2006/relationships/font" Target="fonts/Play-bold.fntdata"/><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nature.com/articles/s41586-024-08564-w#Sec2"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reativecommons.org/licenses/by/4.0/"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 name="Google Shape;9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 name="Google Shape;9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a</a:t>
            </a:r>
            <a:r>
              <a:rPr lang="en-US"/>
              <a:t>, Time-series analysis using foundation models. Pre-training large-scale foundation models with transformer architecture using observations (empirical and/or simulated) from time-series epidemic data enables zero-shot applications (Box </a:t>
            </a:r>
            <a:r>
              <a:rPr lang="en-US" u="sng">
                <a:solidFill>
                  <a:schemeClr val="hlink"/>
                </a:solidFill>
                <a:hlinkClick r:id="rId2"/>
              </a:rPr>
              <a:t>1</a:t>
            </a:r>
            <a:r>
              <a:rPr lang="en-US"/>
              <a:t>) for forward prediction, data imputation and anomaly detection. The output from these models can be used to evaluate the effect of public interventions and guide capacity planning for future outbreaks. </a:t>
            </a:r>
            <a:r>
              <a:rPr b="1" lang="en-US"/>
              <a:t>b</a:t>
            </a:r>
            <a:r>
              <a:rPr lang="en-US"/>
              <a:t>, Modelling infectious disease spread using GNNs. Pathogen dissemination can be represented by annotated graphs, in which the nodes correspond to locations or individuals and the edges represent potential transmission pathways (such as human or vector interactions); each node is associated with a set of features (for example, case incidence and population size) that are either indicators or drivers of spread. GNNs have the ability to learn complex patterns from such data, enabling node classification (predicting disease prevalence), community detection (identifying infection clusters) and link prediction (revealing cryptic transmission pathways). These insights can provide a detailed understanding of the underlying mechanism of disease spread and inform resource allocation and targeted interventions. </a:t>
            </a:r>
            <a:r>
              <a:rPr b="1" lang="en-US"/>
              <a:t>c</a:t>
            </a:r>
            <a:r>
              <a:rPr lang="en-US"/>
              <a:t>, Predicting immune-escape mutations using biologically informed deep learning models. By taking advantage of recent advances in protein structure prediction (such as AlphaFold and ESMFold), these models could enable the early detection of pathogens or variants that are likely to develop mutations conferring resistance to existing vaccines or therapeutics through antibody-binding disruption. Such predictions can inform the design of next-generation vaccines and guide the prioritization of containment strategies targeted at emerging lineages.</a:t>
            </a:r>
            <a:endParaRPr/>
          </a:p>
        </p:txBody>
      </p:sp>
      <p:sp>
        <p:nvSpPr>
          <p:cNvPr id="100" name="Google Shape;100;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 name="Google Shape;10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 name="Google Shape;11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 name="Google Shape;11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 name="Google Shape;12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 name="Google Shape;12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 name="Google Shape;13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 name="Google Shape;14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3" name="Google Shape;153;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Conjectured use of AI to optimize the design and implementation of effective control measures during a hypothetical multicountry disease outbreak. Data collected from disease surveillance are processed and analysed by an AI agent, potentially integrating other AI models for parameter estimation, nowcasting and forecasting of epidemic trajectories, as well as reconstructing historical transmission events based on current observations (top row). Before deployment of the AI model, it is trained using an outbreak simulator that simulates the spread of infectious diseases and the effects of different control measures; the model learns from these simulations by updating its model parameters according to the outcomes of the simulations and corresponding rewards (bottom right). Insights from the empirical data are used by the trained model to inform and recommend the most effective control measures, with validation and feedback from human policymakers and stakeholders to fine-tune alignment between model objectives and societally beneficial criteria. This is followed by the execution of public health actions (for example, whether to implement recommended or alternative control measures, or deploy further disease surveillance efforts) made ultimately by human policymakers (bottom left). The map shapefile was obtained from the Africa Data Hub under a Creative Commons licence </a:t>
            </a:r>
            <a:r>
              <a:rPr lang="en-US" u="sng">
                <a:solidFill>
                  <a:schemeClr val="hlink"/>
                </a:solidFill>
                <a:hlinkClick r:id="rId2"/>
              </a:rPr>
              <a:t>CC BY 4.0</a:t>
            </a:r>
            <a:r>
              <a:rPr lang="en-US"/>
              <a:t>.</a:t>
            </a:r>
            <a:endParaRPr/>
          </a:p>
        </p:txBody>
      </p:sp>
      <p:sp>
        <p:nvSpPr>
          <p:cNvPr id="154" name="Google Shape;154;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 name="Google Shape;15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5" name="Google Shape;165;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 name="Google Shape;166;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 name="Google Shape;172;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 name="Google Shape;183;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 name="Google Shape;189;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5" name="Google Shape;195;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Data used to inform epidemiological modelling are placed in terms of their accessibility to the research community and their population-level coverage. Data are classified based on their data types, including epidemiological (red), environmental (brown), social–behavioural (blue) and biological (green)</a:t>
            </a:r>
            <a:endParaRPr/>
          </a:p>
        </p:txBody>
      </p:sp>
      <p:sp>
        <p:nvSpPr>
          <p:cNvPr id="196" name="Google Shape;196;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 name="Google Shape;201;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3" name="Google Shape;213;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9" name="Google Shape;219;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5" name="Google Shape;225;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1" name="Google Shape;231;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7" name="Google Shape;237;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8"/>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8"/>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3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3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30" name="Google Shape;30;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3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3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32"/>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3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3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3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3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3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35"/>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35"/>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3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36"/>
          <p:cNvSpPr/>
          <p:nvPr>
            <p:ph idx="2" type="pic"/>
          </p:nvPr>
        </p:nvSpPr>
        <p:spPr>
          <a:xfrm>
            <a:off x="5183188" y="987425"/>
            <a:ext cx="6172200" cy="4873625"/>
          </a:xfrm>
          <a:prstGeom prst="rect">
            <a:avLst/>
          </a:prstGeom>
          <a:noFill/>
          <a:ln>
            <a:noFill/>
          </a:ln>
        </p:spPr>
      </p:sp>
      <p:sp>
        <p:nvSpPr>
          <p:cNvPr id="68" name="Google Shape;68;p36"/>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3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37"/>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38"/>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38"/>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757575"/>
                </a:solidFill>
                <a:latin typeface="Arial"/>
                <a:ea typeface="Arial"/>
                <a:cs typeface="Arial"/>
                <a:sym typeface="Arial"/>
              </a:defRPr>
            </a:lvl1pPr>
            <a:lvl2pPr indent="0" lvl="1" marL="0" marR="0" rtl="0" algn="r">
              <a:spcBef>
                <a:spcPts val="0"/>
              </a:spcBef>
              <a:buNone/>
              <a:defRPr b="0" i="0" sz="1200" u="none" cap="none" strike="noStrike">
                <a:solidFill>
                  <a:srgbClr val="757575"/>
                </a:solidFill>
                <a:latin typeface="Arial"/>
                <a:ea typeface="Arial"/>
                <a:cs typeface="Arial"/>
                <a:sym typeface="Arial"/>
              </a:defRPr>
            </a:lvl2pPr>
            <a:lvl3pPr indent="0" lvl="2" marL="0" marR="0" rtl="0" algn="r">
              <a:spcBef>
                <a:spcPts val="0"/>
              </a:spcBef>
              <a:buNone/>
              <a:defRPr b="0" i="0" sz="1200" u="none" cap="none" strike="noStrike">
                <a:solidFill>
                  <a:srgbClr val="757575"/>
                </a:solidFill>
                <a:latin typeface="Arial"/>
                <a:ea typeface="Arial"/>
                <a:cs typeface="Arial"/>
                <a:sym typeface="Arial"/>
              </a:defRPr>
            </a:lvl3pPr>
            <a:lvl4pPr indent="0" lvl="3" marL="0" marR="0" rtl="0" algn="r">
              <a:spcBef>
                <a:spcPts val="0"/>
              </a:spcBef>
              <a:buNone/>
              <a:defRPr b="0" i="0" sz="1200" u="none" cap="none" strike="noStrike">
                <a:solidFill>
                  <a:srgbClr val="757575"/>
                </a:solidFill>
                <a:latin typeface="Arial"/>
                <a:ea typeface="Arial"/>
                <a:cs typeface="Arial"/>
                <a:sym typeface="Arial"/>
              </a:defRPr>
            </a:lvl4pPr>
            <a:lvl5pPr indent="0" lvl="4" marL="0" marR="0" rtl="0" algn="r">
              <a:spcBef>
                <a:spcPts val="0"/>
              </a:spcBef>
              <a:buNone/>
              <a:defRPr b="0" i="0" sz="1200" u="none" cap="none" strike="noStrike">
                <a:solidFill>
                  <a:srgbClr val="757575"/>
                </a:solidFill>
                <a:latin typeface="Arial"/>
                <a:ea typeface="Arial"/>
                <a:cs typeface="Arial"/>
                <a:sym typeface="Arial"/>
              </a:defRPr>
            </a:lvl5pPr>
            <a:lvl6pPr indent="0" lvl="5" marL="0" marR="0" rtl="0" algn="r">
              <a:spcBef>
                <a:spcPts val="0"/>
              </a:spcBef>
              <a:buNone/>
              <a:defRPr b="0" i="0" sz="1200" u="none" cap="none" strike="noStrike">
                <a:solidFill>
                  <a:srgbClr val="757575"/>
                </a:solidFill>
                <a:latin typeface="Arial"/>
                <a:ea typeface="Arial"/>
                <a:cs typeface="Arial"/>
                <a:sym typeface="Arial"/>
              </a:defRPr>
            </a:lvl6pPr>
            <a:lvl7pPr indent="0" lvl="6" marL="0" marR="0" rtl="0" algn="r">
              <a:spcBef>
                <a:spcPts val="0"/>
              </a:spcBef>
              <a:buNone/>
              <a:defRPr b="0" i="0" sz="1200" u="none" cap="none" strike="noStrike">
                <a:solidFill>
                  <a:srgbClr val="757575"/>
                </a:solidFill>
                <a:latin typeface="Arial"/>
                <a:ea typeface="Arial"/>
                <a:cs typeface="Arial"/>
                <a:sym typeface="Arial"/>
              </a:defRPr>
            </a:lvl7pPr>
            <a:lvl8pPr indent="0" lvl="7" marL="0" marR="0" rtl="0" algn="r">
              <a:spcBef>
                <a:spcPts val="0"/>
              </a:spcBef>
              <a:buNone/>
              <a:defRPr b="0" i="0" sz="1200" u="none" cap="none" strike="noStrike">
                <a:solidFill>
                  <a:srgbClr val="757575"/>
                </a:solidFill>
                <a:latin typeface="Arial"/>
                <a:ea typeface="Arial"/>
                <a:cs typeface="Arial"/>
                <a:sym typeface="Arial"/>
              </a:defRPr>
            </a:lvl8pPr>
            <a:lvl9pPr indent="0" lvl="8" marL="0" marR="0" rtl="0" algn="r">
              <a:spcBef>
                <a:spcPts val="0"/>
              </a:spcBef>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txBox="1"/>
          <p:nvPr>
            <p:ph type="ctrTitle"/>
          </p:nvPr>
        </p:nvSpPr>
        <p:spPr>
          <a:xfrm>
            <a:off x="0" y="1122363"/>
            <a:ext cx="12192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Play"/>
              <a:buNone/>
            </a:pPr>
            <a:r>
              <a:rPr lang="en-US"/>
              <a:t>Artificial intelligence for modelling infectious disease epidemics</a:t>
            </a:r>
            <a:endParaRPr/>
          </a:p>
        </p:txBody>
      </p:sp>
      <p:sp>
        <p:nvSpPr>
          <p:cNvPr id="89" name="Google Shape;89;p1"/>
          <p:cNvSpPr txBox="1"/>
          <p:nvPr>
            <p:ph idx="1" type="subTitle"/>
          </p:nvPr>
        </p:nvSpPr>
        <p:spPr>
          <a:xfrm>
            <a:off x="1524000" y="3839881"/>
            <a:ext cx="9144000" cy="1655762"/>
          </a:xfrm>
          <a:prstGeom prst="rect">
            <a:avLst/>
          </a:prstGeom>
          <a:noFill/>
          <a:ln>
            <a:noFill/>
          </a:ln>
        </p:spPr>
        <p:txBody>
          <a:bodyPr anchorCtr="0" anchor="t" bIns="45700" lIns="91425" spcFirstLastPara="1" rIns="91425" wrap="square" tIns="45700">
            <a:normAutofit lnSpcReduction="10000"/>
          </a:bodyPr>
          <a:lstStyle/>
          <a:p>
            <a:pPr indent="0" lvl="0" marL="0" rtl="0" algn="ctr">
              <a:lnSpc>
                <a:spcPct val="90000"/>
              </a:lnSpc>
              <a:spcBef>
                <a:spcPts val="0"/>
              </a:spcBef>
              <a:spcAft>
                <a:spcPts val="0"/>
              </a:spcAft>
              <a:buClr>
                <a:schemeClr val="dk1"/>
              </a:buClr>
              <a:buSzPts val="3200"/>
              <a:buNone/>
            </a:pPr>
            <a:r>
              <a:rPr lang="en-US" sz="3200"/>
              <a:t>Kraemer et al. 2025</a:t>
            </a:r>
            <a:endParaRPr/>
          </a:p>
          <a:p>
            <a:pPr indent="0" lvl="0" marL="0" rtl="0" algn="ctr">
              <a:lnSpc>
                <a:spcPct val="90000"/>
              </a:lnSpc>
              <a:spcBef>
                <a:spcPts val="1000"/>
              </a:spcBef>
              <a:spcAft>
                <a:spcPts val="0"/>
              </a:spcAft>
              <a:buClr>
                <a:schemeClr val="dk1"/>
              </a:buClr>
              <a:buSzPts val="3200"/>
              <a:buNone/>
            </a:pPr>
            <a:r>
              <a:rPr lang="en-US" sz="3200"/>
              <a:t>ACCDMi journal club #1</a:t>
            </a:r>
            <a:endParaRPr/>
          </a:p>
          <a:p>
            <a:pPr indent="0" lvl="0" marL="0" rtl="0" algn="ctr">
              <a:lnSpc>
                <a:spcPct val="90000"/>
              </a:lnSpc>
              <a:spcBef>
                <a:spcPts val="1000"/>
              </a:spcBef>
              <a:spcAft>
                <a:spcPts val="0"/>
              </a:spcAft>
              <a:buClr>
                <a:schemeClr val="dk1"/>
              </a:buClr>
              <a:buSzPts val="3200"/>
              <a:buNone/>
            </a:pPr>
            <a:r>
              <a:rPr lang="en-US" sz="3200"/>
              <a:t>May 12, 2026</a:t>
            </a:r>
            <a:endParaRPr/>
          </a:p>
        </p:txBody>
      </p:sp>
      <p:pic>
        <p:nvPicPr>
          <p:cNvPr id="90" name="Google Shape;90;p1"/>
          <p:cNvPicPr preferRelativeResize="0"/>
          <p:nvPr/>
        </p:nvPicPr>
        <p:blipFill rotWithShape="1">
          <a:blip r:embed="rId3">
            <a:alphaModFix/>
          </a:blip>
          <a:srcRect b="0" l="0" r="0" t="0"/>
          <a:stretch/>
        </p:blipFill>
        <p:spPr>
          <a:xfrm>
            <a:off x="393700" y="5276854"/>
            <a:ext cx="3000375" cy="109741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t/>
            </a:r>
            <a:endParaRPr/>
          </a:p>
        </p:txBody>
      </p:sp>
      <p:sp>
        <p:nvSpPr>
          <p:cNvPr id="96" name="Google Shape;96;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b="1" lang="en-US"/>
              <a:t>Box 1. Glossary (of machine learning/modelling terms)</a:t>
            </a:r>
            <a:endParaRPr/>
          </a:p>
          <a:p>
            <a:pPr indent="0" lvl="0" marL="0" rtl="0" algn="l">
              <a:lnSpc>
                <a:spcPct val="90000"/>
              </a:lnSpc>
              <a:spcBef>
                <a:spcPts val="1000"/>
              </a:spcBef>
              <a:spcAft>
                <a:spcPts val="0"/>
              </a:spcAft>
              <a:buClr>
                <a:schemeClr val="dk1"/>
              </a:buClr>
              <a:buSzPts val="2800"/>
              <a:buNone/>
            </a:pPr>
            <a:r>
              <a:rPr lang="en-US"/>
              <a:t>Foundation model - refers to very large deep learning models that are pre-trained on vast, general-purpose, datasets—for example, LLMs.</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rPr b="1" lang="en-US"/>
              <a:t>Box 2. Important epidemiological concepts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pic>
        <p:nvPicPr>
          <p:cNvPr descr="Fig. 1: AI approaches to tackling key epidemiological questions." id="102" name="Google Shape;102;p3"/>
          <p:cNvPicPr preferRelativeResize="0"/>
          <p:nvPr/>
        </p:nvPicPr>
        <p:blipFill rotWithShape="1">
          <a:blip r:embed="rId3">
            <a:alphaModFix/>
          </a:blip>
          <a:srcRect b="0" l="0" r="0" t="0"/>
          <a:stretch/>
        </p:blipFill>
        <p:spPr>
          <a:xfrm>
            <a:off x="482600" y="0"/>
            <a:ext cx="11461750" cy="6832538"/>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AI to answer epidemiological questions</a:t>
            </a:r>
            <a:endParaRPr/>
          </a:p>
        </p:txBody>
      </p:sp>
      <p:sp>
        <p:nvSpPr>
          <p:cNvPr id="108" name="Google Shape;108;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Bayesian data augmentation can be used to improve parameter inference given missing data (Fig 1A)</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Inferences can be accelerated by approximating the original model with a generative model surrogate or by using variation inference</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AI-accelerated methods have the potential to reduce model run times, so more complexity can be included in the model</a:t>
            </a:r>
            <a:endParaRPr/>
          </a:p>
          <a:p>
            <a:pPr indent="0" lvl="0" marL="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AI to answer epidemiological questions</a:t>
            </a:r>
            <a:endParaRPr/>
          </a:p>
        </p:txBody>
      </p:sp>
      <p:sp>
        <p:nvSpPr>
          <p:cNvPr id="114" name="Google Shape;114;p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u="sng"/>
              <a:t>Prediction and forecasting</a:t>
            </a:r>
            <a:endParaRPr/>
          </a:p>
          <a:p>
            <a:pPr indent="-228600" lvl="0" marL="228600" rtl="0" algn="l">
              <a:lnSpc>
                <a:spcPct val="90000"/>
              </a:lnSpc>
              <a:spcBef>
                <a:spcPts val="1000"/>
              </a:spcBef>
              <a:spcAft>
                <a:spcPts val="0"/>
              </a:spcAft>
              <a:buClr>
                <a:schemeClr val="dk1"/>
              </a:buClr>
              <a:buSzPts val="2800"/>
              <a:buChar char="•"/>
            </a:pPr>
            <a:r>
              <a:rPr lang="en-US"/>
              <a:t>Now-casting attempts to address systematic biases and enable robust estimation of the contemporary epidemic situation given noisy an incomplete data.</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Foundation models for large deep neural networks are powerful ways to understand surveillance data.</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t/>
            </a:r>
            <a:endParaRPr/>
          </a:p>
        </p:txBody>
      </p:sp>
      <p:sp>
        <p:nvSpPr>
          <p:cNvPr id="120" name="Google Shape;120;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0"/>
              </a:spcBef>
              <a:spcAft>
                <a:spcPts val="0"/>
              </a:spcAft>
              <a:buClr>
                <a:schemeClr val="dk1"/>
              </a:buClr>
              <a:buSzPts val="2800"/>
              <a:buNone/>
            </a:pPr>
            <a:r>
              <a:rPr lang="en-US" u="sng"/>
              <a:t>Modelling mechanisms of disease spread</a:t>
            </a:r>
            <a:endParaRPr/>
          </a:p>
          <a:p>
            <a:pPr indent="-228600" lvl="0" marL="228600" rtl="0" algn="l">
              <a:lnSpc>
                <a:spcPct val="90000"/>
              </a:lnSpc>
              <a:spcBef>
                <a:spcPts val="1000"/>
              </a:spcBef>
              <a:spcAft>
                <a:spcPts val="0"/>
              </a:spcAft>
              <a:buClr>
                <a:schemeClr val="dk1"/>
              </a:buClr>
              <a:buSzPts val="2800"/>
              <a:buChar char="•"/>
            </a:pPr>
            <a:r>
              <a:rPr lang="en-US"/>
              <a:t>Traditionally achieved with compartment models</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AI approaches can facilitate inference on agent-based models that lack analytical components by leveraging variational Bayesian inference.</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Foundation time series models can be used to constrain function space by restricting the set of functions a priori and embedding these constrains within a mechanistic/semi-mechanistic model</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t/>
            </a:r>
            <a:endParaRPr/>
          </a:p>
        </p:txBody>
      </p:sp>
      <p:sp>
        <p:nvSpPr>
          <p:cNvPr id="126" name="Google Shape;126;p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u="sng"/>
              <a:t>Modelling mechanisms of disease spread</a:t>
            </a:r>
            <a:endParaRPr/>
          </a:p>
          <a:p>
            <a:pPr indent="-228600" lvl="0" marL="228600" rtl="0" algn="l">
              <a:lnSpc>
                <a:spcPct val="90000"/>
              </a:lnSpc>
              <a:spcBef>
                <a:spcPts val="1000"/>
              </a:spcBef>
              <a:spcAft>
                <a:spcPts val="0"/>
              </a:spcAft>
              <a:buClr>
                <a:schemeClr val="dk1"/>
              </a:buClr>
              <a:buSzPts val="2800"/>
              <a:buChar char="•"/>
            </a:pPr>
            <a:r>
              <a:rPr lang="en-US"/>
              <a:t>Alternative models (to ODEs) include PDEs, branching processes or self-exciting branching processes.</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Graphs neural networks (GNN) can expand agent-based models to capture spatio-temporal dynamics and can expand agent-based models by allowing differentiability of all model components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t/>
            </a:r>
            <a:endParaRPr/>
          </a:p>
        </p:txBody>
      </p:sp>
      <p:sp>
        <p:nvSpPr>
          <p:cNvPr id="132" name="Google Shape;132;p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u="sng"/>
              <a:t>Immunological and genomic interactions </a:t>
            </a:r>
            <a:r>
              <a:rPr lang="en-US"/>
              <a:t>(Fig 1C)</a:t>
            </a:r>
            <a:endParaRPr/>
          </a:p>
          <a:p>
            <a:pPr indent="-228600" lvl="0" marL="228600" rtl="0" algn="l">
              <a:lnSpc>
                <a:spcPct val="90000"/>
              </a:lnSpc>
              <a:spcBef>
                <a:spcPts val="1000"/>
              </a:spcBef>
              <a:spcAft>
                <a:spcPts val="0"/>
              </a:spcAft>
              <a:buClr>
                <a:schemeClr val="dk1"/>
              </a:buClr>
              <a:buSzPts val="2800"/>
              <a:buChar char="•"/>
            </a:pPr>
            <a:r>
              <a:rPr lang="en-US"/>
              <a:t>Applied to genomic data AI models can be used to classify lineages, infer when and how a pathogen emergence, predict pathogen traits such as transmissibility, escapability and spread, predict the likelihood of spillover.</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Predict vaccines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AI-aided integration of key data</a:t>
            </a:r>
            <a:endParaRPr/>
          </a:p>
        </p:txBody>
      </p:sp>
      <p:sp>
        <p:nvSpPr>
          <p:cNvPr id="138" name="Google Shape;138;p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0"/>
              </a:spcBef>
              <a:spcAft>
                <a:spcPts val="0"/>
              </a:spcAft>
              <a:buClr>
                <a:schemeClr val="dk1"/>
              </a:buClr>
              <a:buSzPts val="2800"/>
              <a:buNone/>
            </a:pPr>
            <a:r>
              <a:rPr lang="en-US" u="sng"/>
              <a:t>Data science and representative sampling</a:t>
            </a:r>
            <a:endParaRPr/>
          </a:p>
          <a:p>
            <a:pPr indent="-228600" lvl="0" marL="228600" rtl="0" algn="l">
              <a:lnSpc>
                <a:spcPct val="90000"/>
              </a:lnSpc>
              <a:spcBef>
                <a:spcPts val="1000"/>
              </a:spcBef>
              <a:spcAft>
                <a:spcPts val="0"/>
              </a:spcAft>
              <a:buClr>
                <a:schemeClr val="dk1"/>
              </a:buClr>
              <a:buSzPts val="2800"/>
              <a:buFont typeface="Arial"/>
              <a:buChar char="-"/>
            </a:pPr>
            <a:r>
              <a:rPr lang="en-US"/>
              <a:t>Data scarcity and geographic biases are major obstacles to global epidemiology research</a:t>
            </a:r>
            <a:endParaRPr/>
          </a:p>
          <a:p>
            <a:pPr indent="-228600" lvl="0" marL="228600" rtl="0" algn="l">
              <a:lnSpc>
                <a:spcPct val="90000"/>
              </a:lnSpc>
              <a:spcBef>
                <a:spcPts val="1000"/>
              </a:spcBef>
              <a:spcAft>
                <a:spcPts val="0"/>
              </a:spcAft>
              <a:buClr>
                <a:schemeClr val="dk1"/>
              </a:buClr>
              <a:buSzPts val="2800"/>
              <a:buFont typeface="Arial"/>
              <a:buChar char="-"/>
            </a:pPr>
            <a:r>
              <a:rPr lang="en-US"/>
              <a:t>Can accerbate racial biases and lead to non-optimal public health policy decisions.</a:t>
            </a:r>
            <a:endParaRPr/>
          </a:p>
          <a:p>
            <a:pPr indent="-228600" lvl="0" marL="228600" rtl="0" algn="l">
              <a:lnSpc>
                <a:spcPct val="90000"/>
              </a:lnSpc>
              <a:spcBef>
                <a:spcPts val="1000"/>
              </a:spcBef>
              <a:spcAft>
                <a:spcPts val="0"/>
              </a:spcAft>
              <a:buClr>
                <a:schemeClr val="dk1"/>
              </a:buClr>
              <a:buSzPts val="2800"/>
              <a:buFont typeface="Arial"/>
              <a:buChar char="-"/>
            </a:pPr>
            <a:r>
              <a:rPr lang="en-US"/>
              <a:t>Big Data Paradox: it is not only the volume of data, but the quality of it (sample design, representativness) that is needed</a:t>
            </a:r>
            <a:endParaRPr/>
          </a:p>
          <a:p>
            <a:pPr indent="-228600" lvl="0" marL="228600" rtl="0" algn="l">
              <a:lnSpc>
                <a:spcPct val="90000"/>
              </a:lnSpc>
              <a:spcBef>
                <a:spcPts val="1000"/>
              </a:spcBef>
              <a:spcAft>
                <a:spcPts val="0"/>
              </a:spcAft>
              <a:buClr>
                <a:schemeClr val="dk1"/>
              </a:buClr>
              <a:buSzPts val="2800"/>
              <a:buFont typeface="Arial"/>
              <a:buChar char="-"/>
            </a:pPr>
            <a:r>
              <a:rPr lang="en-US"/>
              <a:t>Active learning and Bayesian optimization can be used to inform the design of active surveillance strategies (selecting new locations based on current locations)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t/>
            </a:r>
            <a:endParaRPr/>
          </a:p>
        </p:txBody>
      </p:sp>
      <p:sp>
        <p:nvSpPr>
          <p:cNvPr id="144" name="Google Shape;144;p1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u="sng"/>
              <a:t>Integrating novel data sources</a:t>
            </a:r>
            <a:endParaRPr/>
          </a:p>
          <a:p>
            <a:pPr indent="-228600" lvl="0" marL="228600" rtl="0" algn="l">
              <a:lnSpc>
                <a:spcPct val="90000"/>
              </a:lnSpc>
              <a:spcBef>
                <a:spcPts val="1000"/>
              </a:spcBef>
              <a:spcAft>
                <a:spcPts val="0"/>
              </a:spcAft>
              <a:buClr>
                <a:schemeClr val="dk1"/>
              </a:buClr>
              <a:buSzPts val="2800"/>
              <a:buChar char="•"/>
            </a:pPr>
            <a:r>
              <a:rPr lang="en-US"/>
              <a:t>New technology, i.e. contact-tracing apps and smart phone-derived mobility data have a lot of potential</a:t>
            </a:r>
            <a:endParaRPr/>
          </a:p>
          <a:p>
            <a:pPr indent="-228600" lvl="0" marL="228600" rtl="0" algn="l">
              <a:lnSpc>
                <a:spcPct val="90000"/>
              </a:lnSpc>
              <a:spcBef>
                <a:spcPts val="1000"/>
              </a:spcBef>
              <a:spcAft>
                <a:spcPts val="0"/>
              </a:spcAft>
              <a:buClr>
                <a:schemeClr val="dk1"/>
              </a:buClr>
              <a:buSzPts val="2800"/>
              <a:buChar char="•"/>
            </a:pPr>
            <a:r>
              <a:rPr lang="en-US"/>
              <a:t>Reinforcement learning systems have been used to support testing decisions at airports</a:t>
            </a:r>
            <a:endParaRPr/>
          </a:p>
          <a:p>
            <a:pPr indent="0" lvl="0" marL="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AI-driven disease modelling for policy</a:t>
            </a:r>
            <a:endParaRPr/>
          </a:p>
        </p:txBody>
      </p:sp>
      <p:sp>
        <p:nvSpPr>
          <p:cNvPr id="150" name="Google Shape;150;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u="sng"/>
              <a:t>Public health decision making</a:t>
            </a:r>
            <a:endParaRPr/>
          </a:p>
          <a:p>
            <a:pPr indent="-228600" lvl="0" marL="228600" rtl="0" algn="l">
              <a:lnSpc>
                <a:spcPct val="90000"/>
              </a:lnSpc>
              <a:spcBef>
                <a:spcPts val="1000"/>
              </a:spcBef>
              <a:spcAft>
                <a:spcPts val="0"/>
              </a:spcAft>
              <a:buClr>
                <a:schemeClr val="dk1"/>
              </a:buClr>
              <a:buSzPts val="2800"/>
              <a:buChar char="•"/>
            </a:pPr>
            <a:r>
              <a:rPr lang="en-US"/>
              <a:t>Modellers face the challenge of developing increasingly complex models to address a wide range of questions, for which characterizing a clear objective or task can sometimes be difficult (Figure 3).</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Markov Decision Processes and reinforcement learning are promising theoretical frameworks in which data, models and expert feedback can enable timely decision-making (Fig 3).</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pic>
        <p:nvPicPr>
          <p:cNvPr id="156" name="Google Shape;156;p12"/>
          <p:cNvPicPr preferRelativeResize="0"/>
          <p:nvPr/>
        </p:nvPicPr>
        <p:blipFill rotWithShape="1">
          <a:blip r:embed="rId3">
            <a:alphaModFix/>
          </a:blip>
          <a:srcRect b="0" l="0" r="0" t="0"/>
          <a:stretch/>
        </p:blipFill>
        <p:spPr>
          <a:xfrm>
            <a:off x="285750" y="393195"/>
            <a:ext cx="11662070" cy="609333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AI-driven disease modelling for policy</a:t>
            </a:r>
            <a:endParaRPr/>
          </a:p>
        </p:txBody>
      </p:sp>
      <p:sp>
        <p:nvSpPr>
          <p:cNvPr id="162" name="Google Shape;162;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u="sng"/>
              <a:t>Public health decision making</a:t>
            </a:r>
            <a:endParaRPr/>
          </a:p>
          <a:p>
            <a:pPr indent="-228600" lvl="0" marL="228600" rtl="0" algn="l">
              <a:lnSpc>
                <a:spcPct val="90000"/>
              </a:lnSpc>
              <a:spcBef>
                <a:spcPts val="1000"/>
              </a:spcBef>
              <a:spcAft>
                <a:spcPts val="0"/>
              </a:spcAft>
              <a:buClr>
                <a:schemeClr val="dk1"/>
              </a:buClr>
              <a:buSzPts val="2800"/>
              <a:buChar char="•"/>
            </a:pPr>
            <a:r>
              <a:rPr lang="en-US"/>
              <a:t>Close collaboration between decision makers, civil society, and the scientific community is necessary to appropriately define clear objectives and rewards in re-inforcement learning.</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It is an open question when the data or the models will be limiting</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Evolution and behavioral responses have yet to be incorporated in a systematic way in epidemic models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pic>
        <p:nvPicPr>
          <p:cNvPr id="168" name="Google Shape;168;p14"/>
          <p:cNvPicPr preferRelativeResize="0"/>
          <p:nvPr/>
        </p:nvPicPr>
        <p:blipFill rotWithShape="1">
          <a:blip r:embed="rId3">
            <a:alphaModFix/>
          </a:blip>
          <a:srcRect b="0" l="0" r="0" t="0"/>
          <a:stretch/>
        </p:blipFill>
        <p:spPr>
          <a:xfrm>
            <a:off x="0" y="935029"/>
            <a:ext cx="12202698" cy="5424495"/>
          </a:xfrm>
          <a:prstGeom prst="rect">
            <a:avLst/>
          </a:prstGeom>
          <a:noFill/>
          <a:ln>
            <a:noFill/>
          </a:ln>
        </p:spPr>
      </p:pic>
      <p:sp>
        <p:nvSpPr>
          <p:cNvPr id="169" name="Google Shape;169;p14"/>
          <p:cNvSpPr txBox="1"/>
          <p:nvPr/>
        </p:nvSpPr>
        <p:spPr>
          <a:xfrm>
            <a:off x="117474" y="114211"/>
            <a:ext cx="12074525"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Table 1 New AI approaches to answering key questions in infectious disease epidemiology, their potential effects and the level of maturity in the scientific and public health community</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pic>
        <p:nvPicPr>
          <p:cNvPr id="174" name="Google Shape;174;p15"/>
          <p:cNvPicPr preferRelativeResize="0"/>
          <p:nvPr/>
        </p:nvPicPr>
        <p:blipFill rotWithShape="1">
          <a:blip r:embed="rId3">
            <a:alphaModFix/>
          </a:blip>
          <a:srcRect b="0" l="0" r="0" t="0"/>
          <a:stretch/>
        </p:blipFill>
        <p:spPr>
          <a:xfrm>
            <a:off x="-1" y="1684516"/>
            <a:ext cx="12087229" cy="345898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t/>
            </a:r>
            <a:endParaRPr/>
          </a:p>
        </p:txBody>
      </p:sp>
      <p:sp>
        <p:nvSpPr>
          <p:cNvPr id="180" name="Google Shape;180;p1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0"/>
              </a:spcBef>
              <a:spcAft>
                <a:spcPts val="0"/>
              </a:spcAft>
              <a:buClr>
                <a:schemeClr val="dk1"/>
              </a:buClr>
              <a:buSzPts val="2800"/>
              <a:buNone/>
            </a:pPr>
            <a:r>
              <a:rPr lang="en-US" u="sng"/>
              <a:t>Ethics in the development of AI tools</a:t>
            </a:r>
            <a:endParaRPr/>
          </a:p>
          <a:p>
            <a:pPr indent="-228600" lvl="0" marL="228600" rtl="0" algn="l">
              <a:lnSpc>
                <a:spcPct val="90000"/>
              </a:lnSpc>
              <a:spcBef>
                <a:spcPts val="1000"/>
              </a:spcBef>
              <a:spcAft>
                <a:spcPts val="0"/>
              </a:spcAft>
              <a:buClr>
                <a:schemeClr val="dk1"/>
              </a:buClr>
              <a:buSzPts val="2800"/>
              <a:buChar char="•"/>
            </a:pPr>
            <a:r>
              <a:rPr lang="en-US"/>
              <a:t>What is owed to communities in return for surveillance/public health measures</a:t>
            </a:r>
            <a:endParaRPr/>
          </a:p>
          <a:p>
            <a:pPr indent="-228600" lvl="0" marL="228600" rtl="0" algn="l">
              <a:lnSpc>
                <a:spcPct val="90000"/>
              </a:lnSpc>
              <a:spcBef>
                <a:spcPts val="1000"/>
              </a:spcBef>
              <a:spcAft>
                <a:spcPts val="0"/>
              </a:spcAft>
              <a:buClr>
                <a:schemeClr val="dk1"/>
              </a:buClr>
              <a:buSzPts val="2800"/>
              <a:buChar char="•"/>
            </a:pPr>
            <a:r>
              <a:rPr lang="en-US"/>
              <a:t>Are AI tools being shared equitably for use by PH officials</a:t>
            </a:r>
            <a:endParaRPr/>
          </a:p>
          <a:p>
            <a:pPr indent="-228600" lvl="0" marL="228600" rtl="0" algn="l">
              <a:lnSpc>
                <a:spcPct val="90000"/>
              </a:lnSpc>
              <a:spcBef>
                <a:spcPts val="1000"/>
              </a:spcBef>
              <a:spcAft>
                <a:spcPts val="0"/>
              </a:spcAft>
              <a:buClr>
                <a:schemeClr val="dk1"/>
              </a:buClr>
              <a:buSzPts val="2800"/>
              <a:buChar char="•"/>
            </a:pPr>
            <a:r>
              <a:rPr lang="en-US"/>
              <a:t>Making AI tools accessible to all that need it will require capacity building</a:t>
            </a:r>
            <a:endParaRPr/>
          </a:p>
          <a:p>
            <a:pPr indent="-228600" lvl="0" marL="228600" rtl="0" algn="l">
              <a:lnSpc>
                <a:spcPct val="90000"/>
              </a:lnSpc>
              <a:spcBef>
                <a:spcPts val="1000"/>
              </a:spcBef>
              <a:spcAft>
                <a:spcPts val="0"/>
              </a:spcAft>
              <a:buClr>
                <a:schemeClr val="dk1"/>
              </a:buClr>
              <a:buSzPts val="2800"/>
              <a:buChar char="•"/>
            </a:pPr>
            <a:r>
              <a:rPr lang="en-US"/>
              <a:t>AI could potentially be used to minimize the impact of interventions on disadvantaged communities</a:t>
            </a:r>
            <a:endParaRPr/>
          </a:p>
          <a:p>
            <a:pPr indent="-228600" lvl="1" marL="685800" rtl="0" algn="l">
              <a:lnSpc>
                <a:spcPct val="90000"/>
              </a:lnSpc>
              <a:spcBef>
                <a:spcPts val="500"/>
              </a:spcBef>
              <a:spcAft>
                <a:spcPts val="0"/>
              </a:spcAft>
              <a:buClr>
                <a:schemeClr val="dk1"/>
              </a:buClr>
              <a:buSzPts val="2400"/>
              <a:buFont typeface="Arial"/>
              <a:buChar char="-"/>
            </a:pPr>
            <a:r>
              <a:rPr lang="en-US"/>
              <a:t>Who should get vaccines first?</a:t>
            </a:r>
            <a:endParaRPr/>
          </a:p>
          <a:p>
            <a:pPr indent="-228600" lvl="1" marL="685800" rtl="0" algn="l">
              <a:lnSpc>
                <a:spcPct val="90000"/>
              </a:lnSpc>
              <a:spcBef>
                <a:spcPts val="500"/>
              </a:spcBef>
              <a:spcAft>
                <a:spcPts val="0"/>
              </a:spcAft>
              <a:buClr>
                <a:schemeClr val="dk1"/>
              </a:buClr>
              <a:buSzPts val="2400"/>
              <a:buFont typeface="Arial"/>
              <a:buChar char="-"/>
            </a:pPr>
            <a:r>
              <a:rPr lang="en-US"/>
              <a:t>Models must be explainable, fair, and accountable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t/>
            </a:r>
            <a:endParaRPr/>
          </a:p>
        </p:txBody>
      </p:sp>
      <p:sp>
        <p:nvSpPr>
          <p:cNvPr id="186" name="Google Shape;186;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u="sng"/>
              <a:t>Public health communication</a:t>
            </a:r>
            <a:endParaRPr/>
          </a:p>
          <a:p>
            <a:pPr indent="-228600" lvl="0" marL="228600" rtl="0" algn="l">
              <a:lnSpc>
                <a:spcPct val="90000"/>
              </a:lnSpc>
              <a:spcBef>
                <a:spcPts val="1000"/>
              </a:spcBef>
              <a:spcAft>
                <a:spcPts val="0"/>
              </a:spcAft>
              <a:buClr>
                <a:schemeClr val="dk1"/>
              </a:buClr>
              <a:buSzPts val="2800"/>
              <a:buChar char="•"/>
            </a:pPr>
            <a:r>
              <a:rPr lang="en-US"/>
              <a:t>The WHO highlighted the importance of fighting misinformation during the COVID-19 pandemic</a:t>
            </a:r>
            <a:endParaRPr/>
          </a:p>
          <a:p>
            <a:pPr indent="-228600" lvl="0" marL="228600" rtl="0" algn="l">
              <a:lnSpc>
                <a:spcPct val="90000"/>
              </a:lnSpc>
              <a:spcBef>
                <a:spcPts val="1000"/>
              </a:spcBef>
              <a:spcAft>
                <a:spcPts val="0"/>
              </a:spcAft>
              <a:buClr>
                <a:schemeClr val="dk1"/>
              </a:buClr>
              <a:buSzPts val="2800"/>
              <a:buChar char="•"/>
            </a:pPr>
            <a:r>
              <a:rPr lang="en-US"/>
              <a:t>There are risks due to exclusion of groups from training data</a:t>
            </a:r>
            <a:endParaRPr/>
          </a:p>
          <a:p>
            <a:pPr indent="-228600" lvl="0" marL="228600" rtl="0" algn="l">
              <a:lnSpc>
                <a:spcPct val="90000"/>
              </a:lnSpc>
              <a:spcBef>
                <a:spcPts val="1000"/>
              </a:spcBef>
              <a:spcAft>
                <a:spcPts val="0"/>
              </a:spcAft>
              <a:buClr>
                <a:schemeClr val="dk1"/>
              </a:buClr>
              <a:buSzPts val="2800"/>
              <a:buChar char="•"/>
            </a:pPr>
            <a:r>
              <a:rPr lang="en-US"/>
              <a:t>Research shows AI chatbots are not a trusted means for disseminating PH advice</a:t>
            </a:r>
            <a:endParaRPr/>
          </a:p>
          <a:p>
            <a:pPr indent="-228600" lvl="0" marL="228600" rtl="0" algn="l">
              <a:lnSpc>
                <a:spcPct val="90000"/>
              </a:lnSpc>
              <a:spcBef>
                <a:spcPts val="1000"/>
              </a:spcBef>
              <a:spcAft>
                <a:spcPts val="0"/>
              </a:spcAft>
              <a:buClr>
                <a:schemeClr val="dk1"/>
              </a:buClr>
              <a:buSzPts val="2800"/>
              <a:buChar char="•"/>
            </a:pPr>
            <a:r>
              <a:rPr lang="en-US"/>
              <a:t>LLMs can produce false information called ‘AI hallucinations’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t/>
            </a:r>
            <a:endParaRPr/>
          </a:p>
        </p:txBody>
      </p:sp>
      <p:sp>
        <p:nvSpPr>
          <p:cNvPr id="192" name="Google Shape;192;p1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0"/>
              </a:spcBef>
              <a:spcAft>
                <a:spcPts val="0"/>
              </a:spcAft>
              <a:buClr>
                <a:schemeClr val="dk1"/>
              </a:buClr>
              <a:buSzPts val="2800"/>
              <a:buNone/>
            </a:pPr>
            <a:r>
              <a:rPr lang="en-US" u="sng"/>
              <a:t>Open data and explainability</a:t>
            </a:r>
            <a:endParaRPr/>
          </a:p>
          <a:p>
            <a:pPr indent="-228600" lvl="0" marL="228600" rtl="0" algn="l">
              <a:lnSpc>
                <a:spcPct val="90000"/>
              </a:lnSpc>
              <a:spcBef>
                <a:spcPts val="1000"/>
              </a:spcBef>
              <a:spcAft>
                <a:spcPts val="0"/>
              </a:spcAft>
              <a:buClr>
                <a:schemeClr val="dk1"/>
              </a:buClr>
              <a:buSzPts val="2800"/>
              <a:buChar char="•"/>
            </a:pPr>
            <a:r>
              <a:rPr lang="en-US"/>
              <a:t>Harmonization of data from across the world is a major challenge</a:t>
            </a:r>
            <a:endParaRPr/>
          </a:p>
          <a:p>
            <a:pPr indent="-228600" lvl="0" marL="228600" rtl="0" algn="l">
              <a:lnSpc>
                <a:spcPct val="90000"/>
              </a:lnSpc>
              <a:spcBef>
                <a:spcPts val="1000"/>
              </a:spcBef>
              <a:spcAft>
                <a:spcPts val="0"/>
              </a:spcAft>
              <a:buClr>
                <a:schemeClr val="dk1"/>
              </a:buClr>
              <a:buSzPts val="2800"/>
              <a:buChar char="•"/>
            </a:pPr>
            <a:r>
              <a:rPr lang="en-US"/>
              <a:t>LLMs can support systematic reviews</a:t>
            </a:r>
            <a:endParaRPr/>
          </a:p>
          <a:p>
            <a:pPr indent="-228600" lvl="0" marL="228600" rtl="0" algn="l">
              <a:lnSpc>
                <a:spcPct val="90000"/>
              </a:lnSpc>
              <a:spcBef>
                <a:spcPts val="1000"/>
              </a:spcBef>
              <a:spcAft>
                <a:spcPts val="0"/>
              </a:spcAft>
              <a:buClr>
                <a:schemeClr val="dk1"/>
              </a:buClr>
              <a:buSzPts val="2800"/>
              <a:buChar char="•"/>
            </a:pPr>
            <a:r>
              <a:rPr lang="en-US"/>
              <a:t>FAIR principles: findability, accessibility, interoperability and reusability</a:t>
            </a:r>
            <a:endParaRPr/>
          </a:p>
          <a:p>
            <a:pPr indent="-228600" lvl="0" marL="228600" rtl="0" algn="l">
              <a:lnSpc>
                <a:spcPct val="90000"/>
              </a:lnSpc>
              <a:spcBef>
                <a:spcPts val="1000"/>
              </a:spcBef>
              <a:spcAft>
                <a:spcPts val="0"/>
              </a:spcAft>
              <a:buClr>
                <a:schemeClr val="dk1"/>
              </a:buClr>
              <a:buSzPts val="2800"/>
              <a:buChar char="•"/>
            </a:pPr>
            <a:r>
              <a:rPr lang="en-US"/>
              <a:t>A barrier to open data is that some data, i.e., mobility have commercial value</a:t>
            </a:r>
            <a:endParaRPr/>
          </a:p>
          <a:p>
            <a:pPr indent="-228600" lvl="0" marL="228600" rtl="0" algn="l">
              <a:lnSpc>
                <a:spcPct val="90000"/>
              </a:lnSpc>
              <a:spcBef>
                <a:spcPts val="1000"/>
              </a:spcBef>
              <a:spcAft>
                <a:spcPts val="0"/>
              </a:spcAft>
              <a:buClr>
                <a:schemeClr val="dk1"/>
              </a:buClr>
              <a:buSzPts val="2800"/>
              <a:buChar char="•"/>
            </a:pPr>
            <a:r>
              <a:rPr lang="en-US"/>
              <a:t>Quantitative measures for explainable AI have been developed</a:t>
            </a:r>
            <a:endParaRPr/>
          </a:p>
          <a:p>
            <a:pPr indent="-228600" lvl="0" marL="228600" rtl="0" algn="l">
              <a:lnSpc>
                <a:spcPct val="90000"/>
              </a:lnSpc>
              <a:spcBef>
                <a:spcPts val="1000"/>
              </a:spcBef>
              <a:spcAft>
                <a:spcPts val="0"/>
              </a:spcAft>
              <a:buClr>
                <a:schemeClr val="dk1"/>
              </a:buClr>
              <a:buSzPts val="2800"/>
              <a:buChar char="•"/>
            </a:pPr>
            <a:r>
              <a:rPr lang="en-US"/>
              <a:t>Causal inference methods in statistics are promising for developing comprehensive standards for explainability</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pic>
        <p:nvPicPr>
          <p:cNvPr id="198" name="Google Shape;198;p19"/>
          <p:cNvPicPr preferRelativeResize="0"/>
          <p:nvPr/>
        </p:nvPicPr>
        <p:blipFill rotWithShape="1">
          <a:blip r:embed="rId3">
            <a:alphaModFix/>
          </a:blip>
          <a:srcRect b="0" l="0" r="0" t="0"/>
          <a:stretch/>
        </p:blipFill>
        <p:spPr>
          <a:xfrm>
            <a:off x="2879912" y="0"/>
            <a:ext cx="6432176" cy="68580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Limitations of AI in ID modelling</a:t>
            </a:r>
            <a:endParaRPr/>
          </a:p>
        </p:txBody>
      </p:sp>
      <p:sp>
        <p:nvSpPr>
          <p:cNvPr id="204" name="Google Shape;204;p2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Current AI models struggle with explainability</a:t>
            </a:r>
            <a:endParaRPr/>
          </a:p>
          <a:p>
            <a:pPr indent="-228600" lvl="0" marL="228600" rtl="0" algn="l">
              <a:lnSpc>
                <a:spcPct val="90000"/>
              </a:lnSpc>
              <a:spcBef>
                <a:spcPts val="1000"/>
              </a:spcBef>
              <a:spcAft>
                <a:spcPts val="0"/>
              </a:spcAft>
              <a:buClr>
                <a:schemeClr val="dk1"/>
              </a:buClr>
              <a:buSzPts val="2800"/>
              <a:buChar char="•"/>
            </a:pPr>
            <a:r>
              <a:rPr lang="en-US"/>
              <a:t>Models for general tasks do not support epidemiological modelling</a:t>
            </a:r>
            <a:endParaRPr/>
          </a:p>
          <a:p>
            <a:pPr indent="-228600" lvl="0" marL="228600" rtl="0" algn="l">
              <a:lnSpc>
                <a:spcPct val="90000"/>
              </a:lnSpc>
              <a:spcBef>
                <a:spcPts val="1000"/>
              </a:spcBef>
              <a:spcAft>
                <a:spcPts val="0"/>
              </a:spcAft>
              <a:buClr>
                <a:schemeClr val="dk1"/>
              </a:buClr>
              <a:buSzPts val="2800"/>
              <a:buChar char="•"/>
            </a:pPr>
            <a:r>
              <a:rPr lang="en-US"/>
              <a:t>AI models are trained by large companies at huge costs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Recommendations for AI in ID epidemiology</a:t>
            </a:r>
            <a:endParaRPr/>
          </a:p>
        </p:txBody>
      </p:sp>
      <p:sp>
        <p:nvSpPr>
          <p:cNvPr id="210" name="Google Shape;210;p2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“When  viewed through a broad lens, AI can be seen as a continuation of the rich legacy of mathematics, statistics and computer science in the field of infectious disease epidemiology”</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Likely breakthroughs include pretraining large and foundation models, zero-shot and few-shot learning approaches that require few data</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Requires embedding of fundamental biological knowledge</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Recommendations for AI in ID epidemiology</a:t>
            </a:r>
            <a:endParaRPr/>
          </a:p>
        </p:txBody>
      </p:sp>
      <p:sp>
        <p:nvSpPr>
          <p:cNvPr id="216" name="Google Shape;216;p2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The benefits of AI for public health is critical dependent of availability, accessibility, representativeness of data and a firm ethical framework.</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Data accessibility is an issue</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Justifiable barriers for entry, and research into robustness, training and evaluation of population AI models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Recommendations for AI in ID epidemiology</a:t>
            </a:r>
            <a:endParaRPr/>
          </a:p>
        </p:txBody>
      </p:sp>
      <p:sp>
        <p:nvSpPr>
          <p:cNvPr id="222" name="Google Shape;222;p2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Are the advances of AI models worth the environmental costs?</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Decisions depend on factors beyond data fit and marginal gains in fit may not be worth the environmental costs</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To improve success in policy requires collaborations between research, policy and society</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24"/>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My conclusions for our group</a:t>
            </a:r>
            <a:endParaRPr/>
          </a:p>
        </p:txBody>
      </p:sp>
      <p:sp>
        <p:nvSpPr>
          <p:cNvPr id="228" name="Google Shape;228;p2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a:bodyPr>
          <a:lstStyle/>
          <a:p>
            <a:pPr indent="-228600" lvl="0" marL="228600" rtl="0" algn="l">
              <a:lnSpc>
                <a:spcPct val="90000"/>
              </a:lnSpc>
              <a:spcBef>
                <a:spcPts val="0"/>
              </a:spcBef>
              <a:spcAft>
                <a:spcPts val="0"/>
              </a:spcAft>
              <a:buClr>
                <a:schemeClr val="dk1"/>
              </a:buClr>
              <a:buSzPct val="100000"/>
              <a:buChar char="•"/>
            </a:pPr>
            <a:r>
              <a:rPr lang="en-US"/>
              <a:t>Maintaining methodological sophistication is necessary for our group to support accessibility and equitability for PH in Atlantic Canada</a:t>
            </a:r>
            <a:endParaRPr/>
          </a:p>
          <a:p>
            <a:pPr indent="0" lvl="0" marL="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Modelling education supports communities that may not understand that lack of access to AI tools is an equity issue due to lack of education on the value of modelling</a:t>
            </a:r>
            <a:endParaRPr/>
          </a:p>
          <a:p>
            <a:pPr indent="-64135"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The responsibility of this group is also to develop technical proficiency in using AI tools, i.e. rather than leveraging them to complete systematic reviews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My conclusions for our group</a:t>
            </a:r>
            <a:endParaRPr/>
          </a:p>
        </p:txBody>
      </p:sp>
      <p:sp>
        <p:nvSpPr>
          <p:cNvPr id="234" name="Google Shape;234;p2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Informing surveillance may be particularly valuable for our group due to limited resources and to support vast regions with isolated populations, i.e., Newfoundland and Labrador and the territories.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Others conclusions for our group</a:t>
            </a:r>
            <a:endParaRPr/>
          </a:p>
        </p:txBody>
      </p:sp>
      <p:sp>
        <p:nvSpPr>
          <p:cNvPr id="240" name="Google Shape;240;p2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Edit these in to start the discussion!</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2026-05-12T08:47:15Z</dcterms:created>
  <dc:creator>Hurford, Amy</dc:creator>
</cp:coreProperties>
</file>