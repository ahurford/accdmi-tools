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79" r:id="rId2"/>
    <p:sldId id="280" r:id="rId3"/>
    <p:sldId id="281" r:id="rId4"/>
    <p:sldId id="282" r:id="rId5"/>
    <p:sldId id="283" r:id="rId6"/>
    <p:sldId id="284" r:id="rId7"/>
    <p:sldId id="285" r:id="rId8"/>
    <p:sldId id="286" r:id="rId9"/>
    <p:sldId id="287" r:id="rId10"/>
    <p:sldId id="288" r:id="rId11"/>
    <p:sldId id="289" r:id="rId12"/>
    <p:sldId id="290" r:id="rId13"/>
    <p:sldId id="291" r:id="rId14"/>
    <p:sldId id="293" r:id="rId15"/>
    <p:sldId id="294" r:id="rId16"/>
    <p:sldId id="295" r:id="rId17"/>
    <p:sldId id="297" r:id="rId18"/>
    <p:sldId id="296" r:id="rId19"/>
    <p:sldId id="292" r:id="rId20"/>
    <p:sldId id="298" r:id="rId21"/>
    <p:sldId id="299" r:id="rId22"/>
    <p:sldId id="300" r:id="rId23"/>
    <p:sldId id="301" r:id="rId24"/>
    <p:sldId id="302" r:id="rId25"/>
    <p:sldId id="303"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75"/>
    <p:restoredTop sz="91435"/>
  </p:normalViewPr>
  <p:slideViewPr>
    <p:cSldViewPr snapToGrid="0">
      <p:cViewPr varScale="1">
        <p:scale>
          <a:sx n="102" d="100"/>
          <a:sy n="102" d="100"/>
        </p:scale>
        <p:origin x="4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18442B-CCB2-4147-B762-AAA4CD4375FC}" type="datetimeFigureOut">
              <a:rPr lang="en-US" smtClean="0"/>
              <a:t>5/14/26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8B5A5A-1F53-3C46-8DA1-7DE3C3698DA0}" type="slidenum">
              <a:rPr lang="en-US" smtClean="0"/>
              <a:t>‹#›</a:t>
            </a:fld>
            <a:endParaRPr lang="en-US"/>
          </a:p>
        </p:txBody>
      </p:sp>
    </p:spTree>
    <p:extLst>
      <p:ext uri="{BB962C8B-B14F-4D97-AF65-F5344CB8AC3E}">
        <p14:creationId xmlns:p14="http://schemas.microsoft.com/office/powerpoint/2010/main" val="82977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SGNNs outperform state-of-the-art baselines in real-world disease forecasting and</a:t>
            </a:r>
          </a:p>
          <a:p>
            <a:r>
              <a:rPr lang="en-US" dirty="0"/>
              <a:t>reveal the importance of mechanistic grounding. (A) SGNNs achieve 35.3% forecasting skill on early</a:t>
            </a:r>
          </a:p>
          <a:p>
            <a:r>
              <a:rPr lang="en-US" dirty="0"/>
              <a:t>COVID-19 mortality, almost tripling the CDC Forecast Hub median and exceeding its best model—despite</a:t>
            </a:r>
          </a:p>
          <a:p>
            <a:r>
              <a:rPr lang="en-US" dirty="0"/>
              <a:t>using no real COVID-19 data. (B) SGNNs produce accurate forecasts with calibrated uncertainty across</a:t>
            </a:r>
          </a:p>
          <a:p>
            <a:r>
              <a:rPr lang="en-US" dirty="0"/>
              <a:t>diverse real-world locations, including Michigan, New York, Texas, and California (four states chosen to</a:t>
            </a:r>
          </a:p>
          <a:p>
            <a:r>
              <a:rPr lang="en-US" dirty="0"/>
              <a:t>represent US regions: West Coast, East Coast, South, and Midwest). (C) Across all U.S. states, SGNNs</a:t>
            </a:r>
          </a:p>
          <a:p>
            <a:r>
              <a:rPr lang="en-US" dirty="0"/>
              <a:t>consistently achieve lower error (lighter) than Chronos and PINNs, showing robust generalization from syn-</a:t>
            </a:r>
          </a:p>
          <a:p>
            <a:r>
              <a:rPr lang="en-US" dirty="0"/>
              <a:t>thetic pretraining. (D) On dengue, a domain with fundamentally different transmission dynamics, SGNNs</a:t>
            </a:r>
          </a:p>
          <a:p>
            <a:r>
              <a:rPr lang="en-US" dirty="0"/>
              <a:t>outperform both PINNs and statistical models in a fully zero-shot setting—demonstrating robustness to</a:t>
            </a:r>
          </a:p>
          <a:p>
            <a:r>
              <a:rPr lang="en-US" dirty="0"/>
              <a:t>mechanistic misspecification. (E) Replacing mechanistic simulations with neural simulators causes </a:t>
            </a:r>
            <a:r>
              <a:rPr lang="en-US" dirty="0" err="1"/>
              <a:t>perfor</a:t>
            </a:r>
            <a:r>
              <a:rPr lang="en-US" dirty="0"/>
              <a:t>-</a:t>
            </a:r>
          </a:p>
          <a:p>
            <a:r>
              <a:rPr lang="en-US" dirty="0" err="1"/>
              <a:t>mance</a:t>
            </a:r>
            <a:r>
              <a:rPr lang="en-US" dirty="0"/>
              <a:t> collapse, highlighting the necessity of mechanistic fidelity. (F) Restricting pretraining to simple SEIR</a:t>
            </a:r>
          </a:p>
          <a:p>
            <a:r>
              <a:rPr lang="en-US" dirty="0"/>
              <a:t>models leads to overconfident exponential forecasts, confirming that mechanistic diversity and surveillance</a:t>
            </a:r>
          </a:p>
          <a:p>
            <a:r>
              <a:rPr lang="en-US" dirty="0"/>
              <a:t>realism are essential for robust downstream performance.</a:t>
            </a:r>
          </a:p>
        </p:txBody>
      </p:sp>
      <p:sp>
        <p:nvSpPr>
          <p:cNvPr id="4" name="Slide Number Placeholder 3"/>
          <p:cNvSpPr>
            <a:spLocks noGrp="1"/>
          </p:cNvSpPr>
          <p:nvPr>
            <p:ph type="sldNum" sz="quarter" idx="5"/>
          </p:nvPr>
        </p:nvSpPr>
        <p:spPr/>
        <p:txBody>
          <a:bodyPr/>
          <a:lstStyle/>
          <a:p>
            <a:fld id="{648B5A5A-1F53-3C46-8DA1-7DE3C3698DA0}" type="slidenum">
              <a:rPr lang="en-US" smtClean="0"/>
              <a:t>15</a:t>
            </a:fld>
            <a:endParaRPr lang="en-US"/>
          </a:p>
        </p:txBody>
      </p:sp>
    </p:spTree>
    <p:extLst>
      <p:ext uri="{BB962C8B-B14F-4D97-AF65-F5344CB8AC3E}">
        <p14:creationId xmlns:p14="http://schemas.microsoft.com/office/powerpoint/2010/main" val="558491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C02D-D658-D9E3-F0BC-0838FAFB91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21A183-5940-EA1C-F950-1637A8E5D1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B77B49-B812-27BF-2935-AB176829C5AE}"/>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5" name="Footer Placeholder 4">
            <a:extLst>
              <a:ext uri="{FF2B5EF4-FFF2-40B4-BE49-F238E27FC236}">
                <a16:creationId xmlns:a16="http://schemas.microsoft.com/office/drawing/2014/main" id="{12D9789F-90F0-0A59-9861-74B602A54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9F79B-BD2D-7673-60F6-FAE19C1376D8}"/>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3969442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843E-F25E-FF84-D9B3-E0BE5B0AB1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148E36-1CFD-F770-3297-69AAA93F77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6743A-2531-38E6-721E-4C8D26AE8930}"/>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5" name="Footer Placeholder 4">
            <a:extLst>
              <a:ext uri="{FF2B5EF4-FFF2-40B4-BE49-F238E27FC236}">
                <a16:creationId xmlns:a16="http://schemas.microsoft.com/office/drawing/2014/main" id="{AF32F693-B713-2C91-37E2-C05871FC8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D755E-E220-93B3-3BE0-1245FB9476F5}"/>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120741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79EEE-B39E-4783-A86D-5A1704CB1B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4537A8-A726-AB9D-97BC-04AA9B4AD5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DB5F87-3086-524E-0EDA-F54697FC442A}"/>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5" name="Footer Placeholder 4">
            <a:extLst>
              <a:ext uri="{FF2B5EF4-FFF2-40B4-BE49-F238E27FC236}">
                <a16:creationId xmlns:a16="http://schemas.microsoft.com/office/drawing/2014/main" id="{EDD0CBC2-8CA0-54F1-C721-E9FFF04734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CFF903-124A-D096-6FBE-0F7DB095CC72}"/>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2821944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95B16-FDAB-3E2E-2F4D-3B49B05432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AB1BE2-8F1F-0C05-C65B-113E7EA3F8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EB9785-CC2E-14D3-C04C-B22AED68EF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AF05B6-8484-CCED-D36C-CEBF8F393ACB}"/>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6" name="Footer Placeholder 5">
            <a:extLst>
              <a:ext uri="{FF2B5EF4-FFF2-40B4-BE49-F238E27FC236}">
                <a16:creationId xmlns:a16="http://schemas.microsoft.com/office/drawing/2014/main" id="{742A9955-5D76-53D0-C439-BF4C3522D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E6E257-ED2F-830B-C501-622A472DE890}"/>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1950283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2D828-5C09-3DDA-C75E-CCC72EE996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442D92-7992-CB72-AC52-072D2CDDE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9DCF87-9BA2-A447-7518-AE5794F3FD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2E342D-37F7-A229-6AA8-41B9319262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7E9712-7C27-0D9B-7935-543DDDBF87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E9A18-0F33-FB23-21DB-F8095FAC9136}"/>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8" name="Footer Placeholder 7">
            <a:extLst>
              <a:ext uri="{FF2B5EF4-FFF2-40B4-BE49-F238E27FC236}">
                <a16:creationId xmlns:a16="http://schemas.microsoft.com/office/drawing/2014/main" id="{C086FE75-2546-4C29-2C5F-458DCFE6C6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830E55-1BF2-28F4-4284-626C5531F2AD}"/>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3169275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078E-259D-6BB5-7504-57BBFF22F8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45BB47-A529-571B-E0CB-FE786CD06660}"/>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4" name="Footer Placeholder 3">
            <a:extLst>
              <a:ext uri="{FF2B5EF4-FFF2-40B4-BE49-F238E27FC236}">
                <a16:creationId xmlns:a16="http://schemas.microsoft.com/office/drawing/2014/main" id="{B754A14D-ED8F-5165-D3D0-7664669904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3939829-EA15-AB06-C53D-895042C6731A}"/>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2315160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8FEC7D-AA30-1DFE-C797-6C751EE1CEFC}"/>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3" name="Footer Placeholder 2">
            <a:extLst>
              <a:ext uri="{FF2B5EF4-FFF2-40B4-BE49-F238E27FC236}">
                <a16:creationId xmlns:a16="http://schemas.microsoft.com/office/drawing/2014/main" id="{49ED1B6F-0400-DBE1-097F-1D7DC8166E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33315B-C702-5F09-59CA-22F604937736}"/>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2848789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F827-BE1F-5269-1A33-E5F1F51202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CFEC82-6A9C-F96D-5DFA-64E178238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114312-48F1-EE53-3FFE-0CEDEAB7F7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AD3C34-36B2-ECF3-06B2-65545272048D}"/>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6" name="Footer Placeholder 5">
            <a:extLst>
              <a:ext uri="{FF2B5EF4-FFF2-40B4-BE49-F238E27FC236}">
                <a16:creationId xmlns:a16="http://schemas.microsoft.com/office/drawing/2014/main" id="{D85D23BA-4CA5-76DF-A56A-18D4DBAA9C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E4713-8AFD-B2AC-4F30-024945A9F3C4}"/>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221131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C17FB-7A60-4918-BE5B-2D01E91C2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6A40A6-FDAC-22A5-BED1-F12F0A333D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20F34D-46CC-C5CF-0CF8-63AF252FD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E504E9-DA30-57B8-1104-E69328227573}"/>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6" name="Footer Placeholder 5">
            <a:extLst>
              <a:ext uri="{FF2B5EF4-FFF2-40B4-BE49-F238E27FC236}">
                <a16:creationId xmlns:a16="http://schemas.microsoft.com/office/drawing/2014/main" id="{1E6B7F42-C9B6-0B69-6328-5843238F39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BE625F-E839-4659-8BCE-B51B451B1AF7}"/>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3983615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B22A2-889E-8C89-DB11-DF4920E671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69125C-C212-0DBB-C2C6-B99FABC5A2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9FFFE-6129-86A0-A2A9-BDA1EF0DE141}"/>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5" name="Footer Placeholder 4">
            <a:extLst>
              <a:ext uri="{FF2B5EF4-FFF2-40B4-BE49-F238E27FC236}">
                <a16:creationId xmlns:a16="http://schemas.microsoft.com/office/drawing/2014/main" id="{ECA80A20-4735-AE57-26A9-5D8D8DBF1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34E5A9-9C75-5AC9-C521-7D6756221A33}"/>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1979175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2E3757-D04E-F14E-A5B4-4EC0734544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FE7A8A-28B8-1942-0BD2-9B93CF5DE6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D7029-998B-59CD-61B7-ACF420C789EC}"/>
              </a:ext>
            </a:extLst>
          </p:cNvPr>
          <p:cNvSpPr>
            <a:spLocks noGrp="1"/>
          </p:cNvSpPr>
          <p:nvPr>
            <p:ph type="dt" sz="half" idx="10"/>
          </p:nvPr>
        </p:nvSpPr>
        <p:spPr/>
        <p:txBody>
          <a:bodyPr/>
          <a:lstStyle/>
          <a:p>
            <a:fld id="{BA3D705A-9379-B347-B218-FA708CAF9AC9}" type="datetimeFigureOut">
              <a:rPr lang="en-US" smtClean="0"/>
              <a:t>5/14/26</a:t>
            </a:fld>
            <a:endParaRPr lang="en-US"/>
          </a:p>
        </p:txBody>
      </p:sp>
      <p:sp>
        <p:nvSpPr>
          <p:cNvPr id="5" name="Footer Placeholder 4">
            <a:extLst>
              <a:ext uri="{FF2B5EF4-FFF2-40B4-BE49-F238E27FC236}">
                <a16:creationId xmlns:a16="http://schemas.microsoft.com/office/drawing/2014/main" id="{AFA438A8-1E61-D841-E24B-B7FFC6A04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1E6611-C9FC-9E98-5770-C68F4E531FCC}"/>
              </a:ext>
            </a:extLst>
          </p:cNvPr>
          <p:cNvSpPr>
            <a:spLocks noGrp="1"/>
          </p:cNvSpPr>
          <p:nvPr>
            <p:ph type="sldNum" sz="quarter" idx="12"/>
          </p:nvPr>
        </p:nvSpPr>
        <p:spPr/>
        <p:txBody>
          <a:bodyPr/>
          <a:lstStyle/>
          <a:p>
            <a:fld id="{91AEEB3D-800F-F84F-A2FF-2C30DC7C80DC}" type="slidenum">
              <a:rPr lang="en-US" smtClean="0"/>
              <a:t>‹#›</a:t>
            </a:fld>
            <a:endParaRPr lang="en-US"/>
          </a:p>
        </p:txBody>
      </p:sp>
    </p:spTree>
    <p:extLst>
      <p:ext uri="{BB962C8B-B14F-4D97-AF65-F5344CB8AC3E}">
        <p14:creationId xmlns:p14="http://schemas.microsoft.com/office/powerpoint/2010/main" val="3040325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11A168-6413-2DB7-F740-DB43332022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C32EB3-7740-6D7A-69B9-DA973C3A56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D85A4D-3548-5E94-6943-87D5D94D94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3D705A-9379-B347-B218-FA708CAF9AC9}" type="datetimeFigureOut">
              <a:rPr lang="en-US" smtClean="0"/>
              <a:t>5/14/26</a:t>
            </a:fld>
            <a:endParaRPr lang="en-US"/>
          </a:p>
        </p:txBody>
      </p:sp>
      <p:sp>
        <p:nvSpPr>
          <p:cNvPr id="5" name="Footer Placeholder 4">
            <a:extLst>
              <a:ext uri="{FF2B5EF4-FFF2-40B4-BE49-F238E27FC236}">
                <a16:creationId xmlns:a16="http://schemas.microsoft.com/office/drawing/2014/main" id="{AF14C2E8-7D51-A1B4-AE22-3529A8931B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220743-4426-EEA1-A25E-D5AD7F5C5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AEEB3D-800F-F84F-A2FF-2C30DC7C80DC}" type="slidenum">
              <a:rPr lang="en-US" smtClean="0"/>
              <a:t>‹#›</a:t>
            </a:fld>
            <a:endParaRPr lang="en-US"/>
          </a:p>
        </p:txBody>
      </p:sp>
    </p:spTree>
    <p:extLst>
      <p:ext uri="{BB962C8B-B14F-4D97-AF65-F5344CB8AC3E}">
        <p14:creationId xmlns:p14="http://schemas.microsoft.com/office/powerpoint/2010/main" val="2154510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Ablation_(artificial_intelligenc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open.canada.ca/data/en/dataset/261c32ab-4cfd-4f81-9dea-7b64065690dc/resource/39434379-45a1-43d5-aea7-a7a50113c291" TargetMode="External"/><Relationship Id="rId2" Type="http://schemas.openxmlformats.org/officeDocument/2006/relationships/hyperlink" Target="https://github.com/carsondudley1/SGNN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46FE-5C4C-9D85-8669-A0499887A511}"/>
              </a:ext>
            </a:extLst>
          </p:cNvPr>
          <p:cNvSpPr>
            <a:spLocks noGrp="1"/>
          </p:cNvSpPr>
          <p:nvPr>
            <p:ph type="ctrTitle"/>
          </p:nvPr>
        </p:nvSpPr>
        <p:spPr>
          <a:xfrm>
            <a:off x="0" y="1122363"/>
            <a:ext cx="12192000" cy="2387600"/>
          </a:xfrm>
        </p:spPr>
        <p:txBody>
          <a:bodyPr>
            <a:normAutofit fontScale="90000"/>
          </a:bodyPr>
          <a:lstStyle/>
          <a:p>
            <a:r>
              <a:rPr lang="en-US" dirty="0"/>
              <a:t>Simulation as a supervisor: mechanistic pretraining for scientific discovery</a:t>
            </a:r>
          </a:p>
        </p:txBody>
      </p:sp>
      <p:sp>
        <p:nvSpPr>
          <p:cNvPr id="3" name="Subtitle 2">
            <a:extLst>
              <a:ext uri="{FF2B5EF4-FFF2-40B4-BE49-F238E27FC236}">
                <a16:creationId xmlns:a16="http://schemas.microsoft.com/office/drawing/2014/main" id="{18988297-C268-C307-753B-105EE1D97F48}"/>
              </a:ext>
            </a:extLst>
          </p:cNvPr>
          <p:cNvSpPr>
            <a:spLocks noGrp="1"/>
          </p:cNvSpPr>
          <p:nvPr>
            <p:ph type="subTitle" idx="1"/>
          </p:nvPr>
        </p:nvSpPr>
        <p:spPr>
          <a:xfrm>
            <a:off x="1524000" y="3839881"/>
            <a:ext cx="9144000" cy="1655762"/>
          </a:xfrm>
        </p:spPr>
        <p:txBody>
          <a:bodyPr>
            <a:normAutofit lnSpcReduction="10000"/>
          </a:bodyPr>
          <a:lstStyle/>
          <a:p>
            <a:r>
              <a:rPr lang="en-US" sz="3200" dirty="0"/>
              <a:t>Dudley et al. 2026 </a:t>
            </a:r>
            <a:r>
              <a:rPr lang="en-US" sz="3200" dirty="0" err="1"/>
              <a:t>Arxiv</a:t>
            </a:r>
            <a:endParaRPr lang="en-US" sz="3200" dirty="0"/>
          </a:p>
          <a:p>
            <a:r>
              <a:rPr lang="en-US" sz="3200" dirty="0" err="1"/>
              <a:t>ACCDMi</a:t>
            </a:r>
            <a:r>
              <a:rPr lang="en-US" sz="3200" dirty="0"/>
              <a:t> journal club #2</a:t>
            </a:r>
          </a:p>
          <a:p>
            <a:r>
              <a:rPr lang="en-US" sz="3200" dirty="0"/>
              <a:t>May 19, 2026</a:t>
            </a:r>
          </a:p>
        </p:txBody>
      </p:sp>
      <p:pic>
        <p:nvPicPr>
          <p:cNvPr id="5" name="Picture 4">
            <a:extLst>
              <a:ext uri="{FF2B5EF4-FFF2-40B4-BE49-F238E27FC236}">
                <a16:creationId xmlns:a16="http://schemas.microsoft.com/office/drawing/2014/main" id="{83365A83-7A8B-83B2-6E85-04A527C80886}"/>
              </a:ext>
            </a:extLst>
          </p:cNvPr>
          <p:cNvPicPr>
            <a:picLocks noChangeAspect="1"/>
          </p:cNvPicPr>
          <p:nvPr/>
        </p:nvPicPr>
        <p:blipFill>
          <a:blip r:embed="rId2"/>
          <a:stretch>
            <a:fillRect/>
          </a:stretch>
        </p:blipFill>
        <p:spPr>
          <a:xfrm>
            <a:off x="393700" y="5276854"/>
            <a:ext cx="3000375" cy="1097413"/>
          </a:xfrm>
          <a:prstGeom prst="rect">
            <a:avLst/>
          </a:prstGeom>
        </p:spPr>
      </p:pic>
    </p:spTree>
    <p:extLst>
      <p:ext uri="{BB962C8B-B14F-4D97-AF65-F5344CB8AC3E}">
        <p14:creationId xmlns:p14="http://schemas.microsoft.com/office/powerpoint/2010/main" val="1624578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04747-41A1-7D54-F7A1-37991121DEE8}"/>
              </a:ext>
            </a:extLst>
          </p:cNvPr>
          <p:cNvSpPr>
            <a:spLocks noGrp="1"/>
          </p:cNvSpPr>
          <p:nvPr>
            <p:ph type="title"/>
          </p:nvPr>
        </p:nvSpPr>
        <p:spPr/>
        <p:txBody>
          <a:bodyPr/>
          <a:lstStyle/>
          <a:p>
            <a:r>
              <a:rPr lang="en-US" dirty="0"/>
              <a:t>SGNN</a:t>
            </a:r>
          </a:p>
        </p:txBody>
      </p:sp>
      <p:sp>
        <p:nvSpPr>
          <p:cNvPr id="3" name="Content Placeholder 2">
            <a:extLst>
              <a:ext uri="{FF2B5EF4-FFF2-40B4-BE49-F238E27FC236}">
                <a16:creationId xmlns:a16="http://schemas.microsoft.com/office/drawing/2014/main" id="{58AA6009-997A-9943-13EB-95C617059B9D}"/>
              </a:ext>
            </a:extLst>
          </p:cNvPr>
          <p:cNvSpPr>
            <a:spLocks noGrp="1"/>
          </p:cNvSpPr>
          <p:nvPr>
            <p:ph idx="1"/>
          </p:nvPr>
        </p:nvSpPr>
        <p:spPr/>
        <p:txBody>
          <a:bodyPr>
            <a:normAutofit/>
          </a:bodyPr>
          <a:lstStyle/>
          <a:p>
            <a:r>
              <a:rPr lang="en-US" dirty="0"/>
              <a:t>Dudley et al. introduce </a:t>
            </a:r>
            <a:r>
              <a:rPr lang="en-US" b="1" dirty="0"/>
              <a:t>Simulation-Grounded Neural Networks </a:t>
            </a:r>
            <a:r>
              <a:rPr lang="en-US" dirty="0"/>
              <a:t>(SGNNs) as a general framework for </a:t>
            </a:r>
            <a:r>
              <a:rPr lang="en-US" u="sng" dirty="0"/>
              <a:t>training</a:t>
            </a:r>
            <a:r>
              <a:rPr lang="en-US" dirty="0"/>
              <a:t> neural networks on ensembles of mechanistic simulation</a:t>
            </a:r>
          </a:p>
        </p:txBody>
      </p:sp>
    </p:spTree>
    <p:extLst>
      <p:ext uri="{BB962C8B-B14F-4D97-AF65-F5344CB8AC3E}">
        <p14:creationId xmlns:p14="http://schemas.microsoft.com/office/powerpoint/2010/main" val="2283415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96604-745A-C146-8CB0-DE3C44B3160D}"/>
              </a:ext>
            </a:extLst>
          </p:cNvPr>
          <p:cNvSpPr>
            <a:spLocks noGrp="1"/>
          </p:cNvSpPr>
          <p:nvPr>
            <p:ph type="title"/>
          </p:nvPr>
        </p:nvSpPr>
        <p:spPr/>
        <p:txBody>
          <a:bodyPr/>
          <a:lstStyle/>
          <a:p>
            <a:r>
              <a:rPr lang="en-US" dirty="0"/>
              <a:t>Related, but different, frameworks</a:t>
            </a:r>
          </a:p>
        </p:txBody>
      </p:sp>
      <p:sp>
        <p:nvSpPr>
          <p:cNvPr id="3" name="Content Placeholder 2">
            <a:extLst>
              <a:ext uri="{FF2B5EF4-FFF2-40B4-BE49-F238E27FC236}">
                <a16:creationId xmlns:a16="http://schemas.microsoft.com/office/drawing/2014/main" id="{C790040C-EE86-1D52-9509-C4C2EFCE48B9}"/>
              </a:ext>
            </a:extLst>
          </p:cNvPr>
          <p:cNvSpPr>
            <a:spLocks noGrp="1"/>
          </p:cNvSpPr>
          <p:nvPr>
            <p:ph idx="1"/>
          </p:nvPr>
        </p:nvSpPr>
        <p:spPr/>
        <p:txBody>
          <a:bodyPr>
            <a:normAutofit lnSpcReduction="10000"/>
          </a:bodyPr>
          <a:lstStyle/>
          <a:p>
            <a:r>
              <a:rPr lang="en-US" dirty="0"/>
              <a:t>Physics-Informed Neural Networks (PINNs) incorporate governing equations into the </a:t>
            </a:r>
            <a:r>
              <a:rPr lang="en-US" u="sng" dirty="0"/>
              <a:t>loss function</a:t>
            </a:r>
            <a:r>
              <a:rPr lang="en-US" dirty="0"/>
              <a:t>, constraining optimization to satisfy known physical laws</a:t>
            </a:r>
          </a:p>
          <a:p>
            <a:r>
              <a:rPr lang="en-US" dirty="0"/>
              <a:t>Universal Differential Equations (UDEs) incorporate domain knowledge into the </a:t>
            </a:r>
            <a:r>
              <a:rPr lang="en-US" u="sng" dirty="0"/>
              <a:t>model architecture</a:t>
            </a:r>
            <a:r>
              <a:rPr lang="en-US" dirty="0"/>
              <a:t> by using neural networks to represent unknown terms within a larger system of differential equations</a:t>
            </a:r>
          </a:p>
          <a:p>
            <a:r>
              <a:rPr lang="en-US" dirty="0"/>
              <a:t>These methods perform well when equations are known and all relevant variables are observable, but can introduce bias or cause the learning process to fail when mechanistic models are incomplete or structurally </a:t>
            </a:r>
            <a:r>
              <a:rPr lang="en-US" dirty="0" err="1"/>
              <a:t>misspecified</a:t>
            </a:r>
            <a:endParaRPr lang="en-US" dirty="0"/>
          </a:p>
          <a:p>
            <a:endParaRPr lang="en-US" dirty="0"/>
          </a:p>
        </p:txBody>
      </p:sp>
    </p:spTree>
    <p:extLst>
      <p:ext uri="{BB962C8B-B14F-4D97-AF65-F5344CB8AC3E}">
        <p14:creationId xmlns:p14="http://schemas.microsoft.com/office/powerpoint/2010/main" val="2919545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D5860-A717-3EA3-839C-4498C9A30FBD}"/>
              </a:ext>
            </a:extLst>
          </p:cNvPr>
          <p:cNvSpPr>
            <a:spLocks noGrp="1"/>
          </p:cNvSpPr>
          <p:nvPr>
            <p:ph type="title"/>
          </p:nvPr>
        </p:nvSpPr>
        <p:spPr>
          <a:xfrm>
            <a:off x="0" y="18255"/>
            <a:ext cx="12192000" cy="1325563"/>
          </a:xfrm>
        </p:spPr>
        <p:txBody>
          <a:bodyPr/>
          <a:lstStyle/>
          <a:p>
            <a:r>
              <a:rPr lang="en-US" dirty="0"/>
              <a:t>Simulation of training data/structural uncertainty</a:t>
            </a:r>
          </a:p>
        </p:txBody>
      </p:sp>
      <p:sp>
        <p:nvSpPr>
          <p:cNvPr id="3" name="Content Placeholder 2">
            <a:extLst>
              <a:ext uri="{FF2B5EF4-FFF2-40B4-BE49-F238E27FC236}">
                <a16:creationId xmlns:a16="http://schemas.microsoft.com/office/drawing/2014/main" id="{18542F25-F4C4-1E72-5A31-EF24286268EE}"/>
              </a:ext>
            </a:extLst>
          </p:cNvPr>
          <p:cNvSpPr>
            <a:spLocks noGrp="1"/>
          </p:cNvSpPr>
          <p:nvPr>
            <p:ph idx="1"/>
          </p:nvPr>
        </p:nvSpPr>
        <p:spPr>
          <a:xfrm>
            <a:off x="189978" y="1343818"/>
            <a:ext cx="11812044" cy="5112251"/>
          </a:xfrm>
        </p:spPr>
        <p:txBody>
          <a:bodyPr>
            <a:noAutofit/>
          </a:bodyPr>
          <a:lstStyle/>
          <a:p>
            <a:r>
              <a:rPr lang="en-US" sz="3200" dirty="0"/>
              <a:t>Another approach is to incorporate mechanistic knowledge into the training data itself by using simulations to generate synthetic datasets for neural network training.</a:t>
            </a:r>
          </a:p>
          <a:p>
            <a:r>
              <a:rPr lang="en-US" sz="3200" dirty="0"/>
              <a:t>In physics, simulation-trained networks often serve as fast surrogates for computationally expensive models</a:t>
            </a:r>
          </a:p>
          <a:p>
            <a:r>
              <a:rPr lang="en-US" sz="3200" dirty="0"/>
              <a:t>In epidemiology and social science, they can address data scarcity issues by generating synthetic training data.</a:t>
            </a:r>
          </a:p>
          <a:p>
            <a:r>
              <a:rPr lang="en-US" sz="3200" dirty="0"/>
              <a:t>Many of these efforts rely on a single, fixed simulator, which can be effective in domains like physics where governing equations are well-understood, but is less effective in fields where the data-generating process is fundamentally uncertain</a:t>
            </a:r>
          </a:p>
        </p:txBody>
      </p:sp>
    </p:spTree>
    <p:extLst>
      <p:ext uri="{BB962C8B-B14F-4D97-AF65-F5344CB8AC3E}">
        <p14:creationId xmlns:p14="http://schemas.microsoft.com/office/powerpoint/2010/main" val="348488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EFF2-A1F8-C90B-B692-CF2C53078264}"/>
              </a:ext>
            </a:extLst>
          </p:cNvPr>
          <p:cNvSpPr>
            <a:spLocks noGrp="1"/>
          </p:cNvSpPr>
          <p:nvPr>
            <p:ph type="title"/>
          </p:nvPr>
        </p:nvSpPr>
        <p:spPr/>
        <p:txBody>
          <a:bodyPr/>
          <a:lstStyle/>
          <a:p>
            <a:r>
              <a:rPr lang="en-US" dirty="0"/>
              <a:t>SGNN</a:t>
            </a:r>
          </a:p>
        </p:txBody>
      </p:sp>
      <p:sp>
        <p:nvSpPr>
          <p:cNvPr id="3" name="Content Placeholder 2">
            <a:extLst>
              <a:ext uri="{FF2B5EF4-FFF2-40B4-BE49-F238E27FC236}">
                <a16:creationId xmlns:a16="http://schemas.microsoft.com/office/drawing/2014/main" id="{30CB7A18-7E37-790C-8802-55C263183D42}"/>
              </a:ext>
            </a:extLst>
          </p:cNvPr>
          <p:cNvSpPr>
            <a:spLocks noGrp="1"/>
          </p:cNvSpPr>
          <p:nvPr>
            <p:ph idx="1"/>
          </p:nvPr>
        </p:nvSpPr>
        <p:spPr/>
        <p:txBody>
          <a:bodyPr/>
          <a:lstStyle/>
          <a:p>
            <a:r>
              <a:rPr lang="en-US" dirty="0"/>
              <a:t>By pretraining on synthetic corpora spanning diverse model structures, parameter regimes, and realistic observational artifacts, the model internalizes the global geometry of physically plausible dynamics.</a:t>
            </a:r>
          </a:p>
          <a:p>
            <a:pPr marL="0" indent="0">
              <a:buNone/>
            </a:pPr>
            <a:endParaRPr lang="en-US" dirty="0"/>
          </a:p>
          <a:p>
            <a:r>
              <a:rPr lang="en-US" dirty="0"/>
              <a:t>This allows the neural network to inherit scientific structure from the underlying models without being explicitly constrained by a single, potentially </a:t>
            </a:r>
            <a:r>
              <a:rPr lang="en-US" dirty="0" err="1"/>
              <a:t>misspecified</a:t>
            </a:r>
            <a:r>
              <a:rPr lang="en-US" dirty="0"/>
              <a:t> governing model.</a:t>
            </a:r>
          </a:p>
        </p:txBody>
      </p:sp>
    </p:spTree>
    <p:extLst>
      <p:ext uri="{BB962C8B-B14F-4D97-AF65-F5344CB8AC3E}">
        <p14:creationId xmlns:p14="http://schemas.microsoft.com/office/powerpoint/2010/main" val="2827140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B2252-0DB6-7F60-8110-3078CA2A8219}"/>
              </a:ext>
            </a:extLst>
          </p:cNvPr>
          <p:cNvSpPr>
            <a:spLocks noGrp="1"/>
          </p:cNvSpPr>
          <p:nvPr>
            <p:ph type="title"/>
          </p:nvPr>
        </p:nvSpPr>
        <p:spPr/>
        <p:txBody>
          <a:bodyPr/>
          <a:lstStyle/>
          <a:p>
            <a:r>
              <a:rPr lang="en-US" dirty="0"/>
              <a:t>SGNN</a:t>
            </a:r>
          </a:p>
        </p:txBody>
      </p:sp>
      <p:sp>
        <p:nvSpPr>
          <p:cNvPr id="3" name="Content Placeholder 2">
            <a:extLst>
              <a:ext uri="{FF2B5EF4-FFF2-40B4-BE49-F238E27FC236}">
                <a16:creationId xmlns:a16="http://schemas.microsoft.com/office/drawing/2014/main" id="{7E01884C-DFA5-25EE-A4F4-D0A7514FA317}"/>
              </a:ext>
            </a:extLst>
          </p:cNvPr>
          <p:cNvSpPr>
            <a:spLocks noGrp="1"/>
          </p:cNvSpPr>
          <p:nvPr>
            <p:ph idx="1"/>
          </p:nvPr>
        </p:nvSpPr>
        <p:spPr/>
        <p:txBody>
          <a:bodyPr/>
          <a:lstStyle/>
          <a:p>
            <a:r>
              <a:rPr lang="en-US" dirty="0"/>
              <a:t>This shift from statistical to mechanistic supervision ensures that the model internalizes the causal structure and constraints of the physical world.</a:t>
            </a:r>
          </a:p>
          <a:p>
            <a:r>
              <a:rPr lang="en-US" dirty="0"/>
              <a:t>Consequently, SGNNs yield models that are not only performant but also mechanistically interpretable and inherently aligned with scientific theory.</a:t>
            </a:r>
          </a:p>
        </p:txBody>
      </p:sp>
    </p:spTree>
    <p:extLst>
      <p:ext uri="{BB962C8B-B14F-4D97-AF65-F5344CB8AC3E}">
        <p14:creationId xmlns:p14="http://schemas.microsoft.com/office/powerpoint/2010/main" val="438178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78C49-BEC8-DBD2-A52E-04658B1DA60D}"/>
              </a:ext>
            </a:extLst>
          </p:cNvPr>
          <p:cNvSpPr>
            <a:spLocks noGrp="1"/>
          </p:cNvSpPr>
          <p:nvPr>
            <p:ph type="title"/>
          </p:nvPr>
        </p:nvSpPr>
        <p:spPr/>
        <p:txBody>
          <a:bodyPr/>
          <a:lstStyle/>
          <a:p>
            <a:r>
              <a:rPr lang="en-US" dirty="0"/>
              <a:t>SGNN</a:t>
            </a:r>
          </a:p>
        </p:txBody>
      </p:sp>
      <p:sp>
        <p:nvSpPr>
          <p:cNvPr id="3" name="Content Placeholder 2">
            <a:extLst>
              <a:ext uri="{FF2B5EF4-FFF2-40B4-BE49-F238E27FC236}">
                <a16:creationId xmlns:a16="http://schemas.microsoft.com/office/drawing/2014/main" id="{1C0287B7-0F08-D92A-ADE3-4422AEB4A685}"/>
              </a:ext>
            </a:extLst>
          </p:cNvPr>
          <p:cNvSpPr>
            <a:spLocks noGrp="1"/>
          </p:cNvSpPr>
          <p:nvPr>
            <p:ph idx="1"/>
          </p:nvPr>
        </p:nvSpPr>
        <p:spPr>
          <a:xfrm>
            <a:off x="838200" y="1690688"/>
            <a:ext cx="10515600" cy="4849204"/>
          </a:xfrm>
        </p:spPr>
        <p:txBody>
          <a:bodyPr>
            <a:normAutofit/>
          </a:bodyPr>
          <a:lstStyle/>
          <a:p>
            <a:r>
              <a:rPr lang="en-US" dirty="0"/>
              <a:t>This approach directly addresses a core limitation of machine learning in science: the inability to infer unobservable quantities.</a:t>
            </a:r>
          </a:p>
          <a:p>
            <a:r>
              <a:rPr lang="en-US" dirty="0"/>
              <a:t>Scientific parameters like the basic reproduction number in an infectious disease outbreak or ecological carrying capacity cannot be measured directly.</a:t>
            </a:r>
          </a:p>
          <a:p>
            <a:r>
              <a:rPr lang="en-US" dirty="0"/>
              <a:t>Traditional methods estimate them by fitting mechanistic models to observed trajectories, a process sensitive to noise, delays, and structural mismatch.</a:t>
            </a:r>
          </a:p>
          <a:p>
            <a:r>
              <a:rPr lang="en-US" dirty="0"/>
              <a:t>Simulation-based inference addresses this by using simulation-grounded training to learn posterior distributions over parameters, providing a principled approach to Bayesian parameter inference.</a:t>
            </a:r>
          </a:p>
        </p:txBody>
      </p:sp>
    </p:spTree>
    <p:extLst>
      <p:ext uri="{BB962C8B-B14F-4D97-AF65-F5344CB8AC3E}">
        <p14:creationId xmlns:p14="http://schemas.microsoft.com/office/powerpoint/2010/main" val="3803305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B4A8-2630-94A0-5934-B4B8AF5525B5}"/>
              </a:ext>
            </a:extLst>
          </p:cNvPr>
          <p:cNvSpPr>
            <a:spLocks noGrp="1"/>
          </p:cNvSpPr>
          <p:nvPr>
            <p:ph type="title"/>
          </p:nvPr>
        </p:nvSpPr>
        <p:spPr/>
        <p:txBody>
          <a:bodyPr/>
          <a:lstStyle/>
          <a:p>
            <a:r>
              <a:rPr lang="en-US" dirty="0"/>
              <a:t>SGNN</a:t>
            </a:r>
          </a:p>
        </p:txBody>
      </p:sp>
      <p:sp>
        <p:nvSpPr>
          <p:cNvPr id="3" name="Content Placeholder 2">
            <a:extLst>
              <a:ext uri="{FF2B5EF4-FFF2-40B4-BE49-F238E27FC236}">
                <a16:creationId xmlns:a16="http://schemas.microsoft.com/office/drawing/2014/main" id="{89185807-258E-FB15-A973-22BEE29BD3BB}"/>
              </a:ext>
            </a:extLst>
          </p:cNvPr>
          <p:cNvSpPr>
            <a:spLocks noGrp="1"/>
          </p:cNvSpPr>
          <p:nvPr>
            <p:ph idx="1"/>
          </p:nvPr>
        </p:nvSpPr>
        <p:spPr/>
        <p:txBody>
          <a:bodyPr/>
          <a:lstStyle/>
          <a:p>
            <a:r>
              <a:rPr lang="en-US" dirty="0"/>
              <a:t>SGNNs also enable back-to-simulation attribution, a form of mechanistic interpretability.</a:t>
            </a:r>
          </a:p>
          <a:p>
            <a:r>
              <a:rPr lang="en-US" dirty="0"/>
              <a:t>After training, the model retrieves training simulations that it considers most similar to real-world inputs, revealing which mechanistic regimes the model associates with observed data</a:t>
            </a:r>
          </a:p>
        </p:txBody>
      </p:sp>
    </p:spTree>
    <p:extLst>
      <p:ext uri="{BB962C8B-B14F-4D97-AF65-F5344CB8AC3E}">
        <p14:creationId xmlns:p14="http://schemas.microsoft.com/office/powerpoint/2010/main" val="3651645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72202-48B2-0D64-D50D-67269078F3F5}"/>
              </a:ext>
            </a:extLst>
          </p:cNvPr>
          <p:cNvSpPr>
            <a:spLocks noGrp="1"/>
          </p:cNvSpPr>
          <p:nvPr>
            <p:ph type="title"/>
          </p:nvPr>
        </p:nvSpPr>
        <p:spPr/>
        <p:txBody>
          <a:bodyPr/>
          <a:lstStyle/>
          <a:p>
            <a:r>
              <a:rPr lang="en-US" dirty="0"/>
              <a:t>SGNN: Key capabilities</a:t>
            </a:r>
          </a:p>
        </p:txBody>
      </p:sp>
      <p:pic>
        <p:nvPicPr>
          <p:cNvPr id="5" name="Picture 4">
            <a:extLst>
              <a:ext uri="{FF2B5EF4-FFF2-40B4-BE49-F238E27FC236}">
                <a16:creationId xmlns:a16="http://schemas.microsoft.com/office/drawing/2014/main" id="{E1516D3F-CD4F-2AC4-F874-99A81D97FCD3}"/>
              </a:ext>
            </a:extLst>
          </p:cNvPr>
          <p:cNvPicPr>
            <a:picLocks noChangeAspect="1"/>
          </p:cNvPicPr>
          <p:nvPr/>
        </p:nvPicPr>
        <p:blipFill>
          <a:blip r:embed="rId2"/>
          <a:stretch>
            <a:fillRect/>
          </a:stretch>
        </p:blipFill>
        <p:spPr>
          <a:xfrm>
            <a:off x="614841" y="1690688"/>
            <a:ext cx="11290569" cy="4398736"/>
          </a:xfrm>
          <a:prstGeom prst="rect">
            <a:avLst/>
          </a:prstGeom>
        </p:spPr>
      </p:pic>
    </p:spTree>
    <p:extLst>
      <p:ext uri="{BB962C8B-B14F-4D97-AF65-F5344CB8AC3E}">
        <p14:creationId xmlns:p14="http://schemas.microsoft.com/office/powerpoint/2010/main" val="254492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46E29B-A780-68B4-FF81-82CE890396C6}"/>
              </a:ext>
            </a:extLst>
          </p:cNvPr>
          <p:cNvPicPr>
            <a:picLocks noChangeAspect="1"/>
          </p:cNvPicPr>
          <p:nvPr/>
        </p:nvPicPr>
        <p:blipFill>
          <a:blip r:embed="rId2"/>
          <a:stretch>
            <a:fillRect/>
          </a:stretch>
        </p:blipFill>
        <p:spPr>
          <a:xfrm>
            <a:off x="626301" y="187890"/>
            <a:ext cx="11021126" cy="6559188"/>
          </a:xfrm>
          <a:prstGeom prst="rect">
            <a:avLst/>
          </a:prstGeom>
        </p:spPr>
      </p:pic>
    </p:spTree>
    <p:extLst>
      <p:ext uri="{BB962C8B-B14F-4D97-AF65-F5344CB8AC3E}">
        <p14:creationId xmlns:p14="http://schemas.microsoft.com/office/powerpoint/2010/main" val="690651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7CC772-787B-641C-739B-CFEA208CA0FF}"/>
              </a:ext>
            </a:extLst>
          </p:cNvPr>
          <p:cNvPicPr>
            <a:picLocks noChangeAspect="1"/>
          </p:cNvPicPr>
          <p:nvPr/>
        </p:nvPicPr>
        <p:blipFill>
          <a:blip r:embed="rId2"/>
          <a:stretch>
            <a:fillRect/>
          </a:stretch>
        </p:blipFill>
        <p:spPr>
          <a:xfrm>
            <a:off x="832757" y="134285"/>
            <a:ext cx="10515600" cy="6624000"/>
          </a:xfrm>
          <a:prstGeom prst="rect">
            <a:avLst/>
          </a:prstGeom>
        </p:spPr>
      </p:pic>
    </p:spTree>
    <p:extLst>
      <p:ext uri="{BB962C8B-B14F-4D97-AF65-F5344CB8AC3E}">
        <p14:creationId xmlns:p14="http://schemas.microsoft.com/office/powerpoint/2010/main" val="548251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723697F-E5DF-8807-75D3-E27FC4791085}"/>
              </a:ext>
            </a:extLst>
          </p:cNvPr>
          <p:cNvPicPr>
            <a:picLocks noChangeAspect="1"/>
          </p:cNvPicPr>
          <p:nvPr/>
        </p:nvPicPr>
        <p:blipFill>
          <a:blip r:embed="rId2"/>
          <a:stretch>
            <a:fillRect/>
          </a:stretch>
        </p:blipFill>
        <p:spPr>
          <a:xfrm>
            <a:off x="3446606" y="0"/>
            <a:ext cx="5298787" cy="6858000"/>
          </a:xfrm>
          <a:prstGeom prst="rect">
            <a:avLst/>
          </a:prstGeom>
        </p:spPr>
      </p:pic>
    </p:spTree>
    <p:extLst>
      <p:ext uri="{BB962C8B-B14F-4D97-AF65-F5344CB8AC3E}">
        <p14:creationId xmlns:p14="http://schemas.microsoft.com/office/powerpoint/2010/main" val="2186331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252C2-3382-07F7-CD7C-A4517ADA7090}"/>
              </a:ext>
            </a:extLst>
          </p:cNvPr>
          <p:cNvSpPr>
            <a:spLocks noGrp="1"/>
          </p:cNvSpPr>
          <p:nvPr>
            <p:ph type="title"/>
          </p:nvPr>
        </p:nvSpPr>
        <p:spPr/>
        <p:txBody>
          <a:bodyPr/>
          <a:lstStyle/>
          <a:p>
            <a:r>
              <a:rPr lang="en-US" dirty="0"/>
              <a:t>SGNN outputs for epidemic model</a:t>
            </a:r>
          </a:p>
        </p:txBody>
      </p:sp>
      <p:pic>
        <p:nvPicPr>
          <p:cNvPr id="5" name="Picture 4">
            <a:extLst>
              <a:ext uri="{FF2B5EF4-FFF2-40B4-BE49-F238E27FC236}">
                <a16:creationId xmlns:a16="http://schemas.microsoft.com/office/drawing/2014/main" id="{3E1317EC-A775-05CD-1644-09494677F806}"/>
              </a:ext>
            </a:extLst>
          </p:cNvPr>
          <p:cNvPicPr>
            <a:picLocks noChangeAspect="1"/>
          </p:cNvPicPr>
          <p:nvPr/>
        </p:nvPicPr>
        <p:blipFill>
          <a:blip r:embed="rId2"/>
          <a:stretch>
            <a:fillRect/>
          </a:stretch>
        </p:blipFill>
        <p:spPr>
          <a:xfrm>
            <a:off x="348471" y="2304789"/>
            <a:ext cx="11719195" cy="2292263"/>
          </a:xfrm>
          <a:prstGeom prst="rect">
            <a:avLst/>
          </a:prstGeom>
        </p:spPr>
      </p:pic>
    </p:spTree>
    <p:extLst>
      <p:ext uri="{BB962C8B-B14F-4D97-AF65-F5344CB8AC3E}">
        <p14:creationId xmlns:p14="http://schemas.microsoft.com/office/powerpoint/2010/main" val="1877719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1A10-6B4F-C76E-1DAB-3D3A3D04F287}"/>
              </a:ext>
            </a:extLst>
          </p:cNvPr>
          <p:cNvSpPr>
            <a:spLocks noGrp="1"/>
          </p:cNvSpPr>
          <p:nvPr>
            <p:ph type="title"/>
          </p:nvPr>
        </p:nvSpPr>
        <p:spPr/>
        <p:txBody>
          <a:bodyPr/>
          <a:lstStyle/>
          <a:p>
            <a:r>
              <a:rPr lang="en-US" dirty="0"/>
              <a:t>Model performance</a:t>
            </a:r>
          </a:p>
        </p:txBody>
      </p:sp>
      <p:pic>
        <p:nvPicPr>
          <p:cNvPr id="5" name="Picture 4">
            <a:extLst>
              <a:ext uri="{FF2B5EF4-FFF2-40B4-BE49-F238E27FC236}">
                <a16:creationId xmlns:a16="http://schemas.microsoft.com/office/drawing/2014/main" id="{06A44191-66B0-F89E-AF7C-FAB9159B7ABD}"/>
              </a:ext>
            </a:extLst>
          </p:cNvPr>
          <p:cNvPicPr>
            <a:picLocks noChangeAspect="1"/>
          </p:cNvPicPr>
          <p:nvPr/>
        </p:nvPicPr>
        <p:blipFill>
          <a:blip r:embed="rId2"/>
          <a:stretch>
            <a:fillRect/>
          </a:stretch>
        </p:blipFill>
        <p:spPr>
          <a:xfrm>
            <a:off x="726122" y="2605087"/>
            <a:ext cx="10739755" cy="1475549"/>
          </a:xfrm>
          <a:prstGeom prst="rect">
            <a:avLst/>
          </a:prstGeom>
        </p:spPr>
      </p:pic>
    </p:spTree>
    <p:extLst>
      <p:ext uri="{BB962C8B-B14F-4D97-AF65-F5344CB8AC3E}">
        <p14:creationId xmlns:p14="http://schemas.microsoft.com/office/powerpoint/2010/main" val="4171830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34689C-5AF0-9D3F-0785-974B66DB8423}"/>
              </a:ext>
            </a:extLst>
          </p:cNvPr>
          <p:cNvPicPr>
            <a:picLocks noChangeAspect="1"/>
          </p:cNvPicPr>
          <p:nvPr/>
        </p:nvPicPr>
        <p:blipFill>
          <a:blip r:embed="rId3"/>
          <a:stretch>
            <a:fillRect/>
          </a:stretch>
        </p:blipFill>
        <p:spPr>
          <a:xfrm>
            <a:off x="803519" y="470142"/>
            <a:ext cx="10584961" cy="6281387"/>
          </a:xfrm>
          <a:prstGeom prst="rect">
            <a:avLst/>
          </a:prstGeom>
        </p:spPr>
      </p:pic>
    </p:spTree>
    <p:extLst>
      <p:ext uri="{BB962C8B-B14F-4D97-AF65-F5344CB8AC3E}">
        <p14:creationId xmlns:p14="http://schemas.microsoft.com/office/powerpoint/2010/main" val="2137173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0655-62B2-3116-E650-6E71DA9893CF}"/>
              </a:ext>
            </a:extLst>
          </p:cNvPr>
          <p:cNvSpPr>
            <a:spLocks noGrp="1"/>
          </p:cNvSpPr>
          <p:nvPr>
            <p:ph type="title"/>
          </p:nvPr>
        </p:nvSpPr>
        <p:spPr/>
        <p:txBody>
          <a:bodyPr/>
          <a:lstStyle/>
          <a:p>
            <a:r>
              <a:rPr lang="en-US" dirty="0"/>
              <a:t>Ablation study and importance of mechanistic grounding</a:t>
            </a:r>
          </a:p>
        </p:txBody>
      </p:sp>
      <p:sp>
        <p:nvSpPr>
          <p:cNvPr id="3" name="Content Placeholder 2">
            <a:extLst>
              <a:ext uri="{FF2B5EF4-FFF2-40B4-BE49-F238E27FC236}">
                <a16:creationId xmlns:a16="http://schemas.microsoft.com/office/drawing/2014/main" id="{A914A6CE-6C2B-4ADA-0DA8-BC0DC85BB254}"/>
              </a:ext>
            </a:extLst>
          </p:cNvPr>
          <p:cNvSpPr>
            <a:spLocks noGrp="1"/>
          </p:cNvSpPr>
          <p:nvPr>
            <p:ph idx="1"/>
          </p:nvPr>
        </p:nvSpPr>
        <p:spPr/>
        <p:txBody>
          <a:bodyPr/>
          <a:lstStyle/>
          <a:p>
            <a:pPr marL="0" indent="0">
              <a:buNone/>
            </a:pPr>
            <a:r>
              <a:rPr lang="en-CA" dirty="0"/>
              <a:t>An </a:t>
            </a:r>
            <a:r>
              <a:rPr lang="en-CA" b="1" dirty="0"/>
              <a:t>ablation study</a:t>
            </a:r>
            <a:r>
              <a:rPr lang="en-CA" dirty="0"/>
              <a:t> aims to determine the contribution of a component to an AI system by removing the component, and then analyzing the resultant performance of the system.</a:t>
            </a:r>
          </a:p>
          <a:p>
            <a:pPr marL="0" indent="0">
              <a:buNone/>
            </a:pPr>
            <a:r>
              <a:rPr lang="en-US" sz="2000" dirty="0">
                <a:hlinkClick r:id="rId2"/>
              </a:rPr>
              <a:t>https://en.wikipedia.org/wiki/Ablation_(artificial_intelligence)</a:t>
            </a:r>
            <a:endParaRPr lang="en-US" sz="2000" dirty="0"/>
          </a:p>
          <a:p>
            <a:pPr marL="0" indent="0">
              <a:buNone/>
            </a:pPr>
            <a:endParaRPr lang="en-US" sz="2000" dirty="0"/>
          </a:p>
          <a:p>
            <a:pPr marL="0" indent="0">
              <a:buNone/>
            </a:pPr>
            <a:r>
              <a:rPr lang="en-US" dirty="0"/>
              <a:t>To assess the importance of mechanistic grounding in SGNN training, Dudley et al. performed two ablation studies that isolate the contributions of both model realism and mechanistic diversity </a:t>
            </a:r>
          </a:p>
        </p:txBody>
      </p:sp>
    </p:spTree>
    <p:extLst>
      <p:ext uri="{BB962C8B-B14F-4D97-AF65-F5344CB8AC3E}">
        <p14:creationId xmlns:p14="http://schemas.microsoft.com/office/powerpoint/2010/main" val="381383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58AC-C23B-7CC4-F02D-CDA79570838B}"/>
              </a:ext>
            </a:extLst>
          </p:cNvPr>
          <p:cNvSpPr>
            <a:spLocks noGrp="1"/>
          </p:cNvSpPr>
          <p:nvPr>
            <p:ph type="title"/>
          </p:nvPr>
        </p:nvSpPr>
        <p:spPr>
          <a:xfrm>
            <a:off x="838200" y="52300"/>
            <a:ext cx="10515600" cy="1325563"/>
          </a:xfrm>
        </p:spPr>
        <p:txBody>
          <a:bodyPr/>
          <a:lstStyle/>
          <a:p>
            <a:r>
              <a:rPr lang="en-US" dirty="0"/>
              <a:t>Conclusion from ablation studies</a:t>
            </a:r>
          </a:p>
        </p:txBody>
      </p:sp>
      <p:sp>
        <p:nvSpPr>
          <p:cNvPr id="3" name="Content Placeholder 2">
            <a:extLst>
              <a:ext uri="{FF2B5EF4-FFF2-40B4-BE49-F238E27FC236}">
                <a16:creationId xmlns:a16="http://schemas.microsoft.com/office/drawing/2014/main" id="{FAB2E619-D556-AA6B-4100-8D643A5CB18E}"/>
              </a:ext>
            </a:extLst>
          </p:cNvPr>
          <p:cNvSpPr>
            <a:spLocks noGrp="1"/>
          </p:cNvSpPr>
          <p:nvPr>
            <p:ph idx="1"/>
          </p:nvPr>
        </p:nvSpPr>
        <p:spPr>
          <a:xfrm>
            <a:off x="475989" y="1377863"/>
            <a:ext cx="11285951" cy="5260932"/>
          </a:xfrm>
        </p:spPr>
        <p:txBody>
          <a:bodyPr>
            <a:normAutofit/>
          </a:bodyPr>
          <a:lstStyle/>
          <a:p>
            <a:r>
              <a:rPr lang="en-US" dirty="0"/>
              <a:t>These findings underscore a strength of SGNNs: by training on a broad ensemble of mechanistic simulations spanning multiple model structures and parameter regimes, SGNNs learn flexible, scientifically grounded representations that can generalize when structural elements differ from those seen in training.</a:t>
            </a:r>
          </a:p>
          <a:p>
            <a:pPr marL="0" indent="0">
              <a:buNone/>
            </a:pPr>
            <a:endParaRPr lang="en-US" dirty="0"/>
          </a:p>
          <a:p>
            <a:r>
              <a:rPr lang="en-US" dirty="0"/>
              <a:t>This result suggests that SGNNs may not merely memorize surface patterns, but instead internalize scientific principles that extend across mechanistic boundaries. SGNNs may be learning abstract representations that capture core features of disease spread—such as delays, feedback, and depletion—that hold across different mechanistic forms.</a:t>
            </a:r>
          </a:p>
        </p:txBody>
      </p:sp>
    </p:spTree>
    <p:extLst>
      <p:ext uri="{BB962C8B-B14F-4D97-AF65-F5344CB8AC3E}">
        <p14:creationId xmlns:p14="http://schemas.microsoft.com/office/powerpoint/2010/main" val="3845591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3A577-0D59-D6F6-E393-5F772DB4A313}"/>
              </a:ext>
            </a:extLst>
          </p:cNvPr>
          <p:cNvSpPr>
            <a:spLocks noGrp="1"/>
          </p:cNvSpPr>
          <p:nvPr>
            <p:ph type="title"/>
          </p:nvPr>
        </p:nvSpPr>
        <p:spPr>
          <a:xfrm>
            <a:off x="838200" y="0"/>
            <a:ext cx="10515600" cy="1325563"/>
          </a:xfrm>
        </p:spPr>
        <p:txBody>
          <a:bodyPr/>
          <a:lstStyle/>
          <a:p>
            <a:r>
              <a:rPr lang="en-US" dirty="0"/>
              <a:t>Estimating unobservable targets</a:t>
            </a:r>
          </a:p>
        </p:txBody>
      </p:sp>
      <p:pic>
        <p:nvPicPr>
          <p:cNvPr id="5" name="Picture 4">
            <a:extLst>
              <a:ext uri="{FF2B5EF4-FFF2-40B4-BE49-F238E27FC236}">
                <a16:creationId xmlns:a16="http://schemas.microsoft.com/office/drawing/2014/main" id="{1454F1AC-72F2-446D-A606-9680B4D807E3}"/>
              </a:ext>
            </a:extLst>
          </p:cNvPr>
          <p:cNvPicPr>
            <a:picLocks noChangeAspect="1"/>
          </p:cNvPicPr>
          <p:nvPr/>
        </p:nvPicPr>
        <p:blipFill>
          <a:blip r:embed="rId2"/>
          <a:stretch>
            <a:fillRect/>
          </a:stretch>
        </p:blipFill>
        <p:spPr>
          <a:xfrm>
            <a:off x="234767" y="1435100"/>
            <a:ext cx="4925956" cy="4879338"/>
          </a:xfrm>
          <a:prstGeom prst="rect">
            <a:avLst/>
          </a:prstGeom>
        </p:spPr>
      </p:pic>
      <p:sp>
        <p:nvSpPr>
          <p:cNvPr id="7" name="TextBox 6">
            <a:extLst>
              <a:ext uri="{FF2B5EF4-FFF2-40B4-BE49-F238E27FC236}">
                <a16:creationId xmlns:a16="http://schemas.microsoft.com/office/drawing/2014/main" id="{E21AE794-31FC-D5DF-7EAD-B144B2A52349}"/>
              </a:ext>
            </a:extLst>
          </p:cNvPr>
          <p:cNvSpPr txBox="1"/>
          <p:nvPr/>
        </p:nvSpPr>
        <p:spPr>
          <a:xfrm>
            <a:off x="5188811" y="4165989"/>
            <a:ext cx="7003189" cy="1763658"/>
          </a:xfrm>
          <a:prstGeom prst="rect">
            <a:avLst/>
          </a:prstGeom>
          <a:noFill/>
        </p:spPr>
        <p:txBody>
          <a:bodyPr wrap="square">
            <a:spAutoFit/>
          </a:bodyPr>
          <a:lstStyle/>
          <a:p>
            <a:r>
              <a:rPr lang="en-US" dirty="0"/>
              <a:t>(B) SGNNs achieve substantially lower mean squared</a:t>
            </a:r>
          </a:p>
          <a:p>
            <a:r>
              <a:rPr lang="en-US" dirty="0"/>
              <a:t>error (left) and mean percentage error (right) in R0 estimation compared to maximum likelihood estimation</a:t>
            </a:r>
          </a:p>
          <a:p>
            <a:r>
              <a:rPr lang="en-US" dirty="0"/>
              <a:t>(MLE) and exponential growth-based methods. Ground truth is known in this case since we are testing on</a:t>
            </a:r>
          </a:p>
          <a:p>
            <a:r>
              <a:rPr lang="en-US" dirty="0"/>
              <a:t>simulated data. </a:t>
            </a:r>
          </a:p>
        </p:txBody>
      </p:sp>
      <p:sp>
        <p:nvSpPr>
          <p:cNvPr id="9" name="TextBox 8">
            <a:extLst>
              <a:ext uri="{FF2B5EF4-FFF2-40B4-BE49-F238E27FC236}">
                <a16:creationId xmlns:a16="http://schemas.microsoft.com/office/drawing/2014/main" id="{06D26163-59A4-5BB2-16C1-F81CD5FCEC95}"/>
              </a:ext>
            </a:extLst>
          </p:cNvPr>
          <p:cNvSpPr txBox="1"/>
          <p:nvPr/>
        </p:nvSpPr>
        <p:spPr>
          <a:xfrm>
            <a:off x="5160723" y="1667047"/>
            <a:ext cx="6538587" cy="1200329"/>
          </a:xfrm>
          <a:prstGeom prst="rect">
            <a:avLst/>
          </a:prstGeom>
          <a:noFill/>
        </p:spPr>
        <p:txBody>
          <a:bodyPr wrap="square">
            <a:spAutoFit/>
          </a:bodyPr>
          <a:lstStyle/>
          <a:p>
            <a:r>
              <a:rPr lang="en-US" dirty="0"/>
              <a:t>(A) SGNNs infer a high reproduction number</a:t>
            </a:r>
          </a:p>
          <a:p>
            <a:r>
              <a:rPr lang="en-US" dirty="0"/>
              <a:t>(R0 = 6.14) for New York City from early COVID-19 case data (Feb–Mar 2020, shown in the plot), aligning</a:t>
            </a:r>
          </a:p>
          <a:p>
            <a:r>
              <a:rPr lang="en-US" dirty="0"/>
              <a:t>with estimates from more complete datasets. </a:t>
            </a:r>
          </a:p>
        </p:txBody>
      </p:sp>
    </p:spTree>
    <p:extLst>
      <p:ext uri="{BB962C8B-B14F-4D97-AF65-F5344CB8AC3E}">
        <p14:creationId xmlns:p14="http://schemas.microsoft.com/office/powerpoint/2010/main" val="2357500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A90C-3E86-8C54-6C6C-E8C2AA3D27E9}"/>
              </a:ext>
            </a:extLst>
          </p:cNvPr>
          <p:cNvSpPr>
            <a:spLocks noGrp="1"/>
          </p:cNvSpPr>
          <p:nvPr>
            <p:ph type="title"/>
          </p:nvPr>
        </p:nvSpPr>
        <p:spPr/>
        <p:txBody>
          <a:bodyPr/>
          <a:lstStyle/>
          <a:p>
            <a:r>
              <a:rPr lang="en-US" dirty="0"/>
              <a:t>Back-to-simulation attribution</a:t>
            </a:r>
          </a:p>
        </p:txBody>
      </p:sp>
      <p:pic>
        <p:nvPicPr>
          <p:cNvPr id="7" name="Picture 6">
            <a:extLst>
              <a:ext uri="{FF2B5EF4-FFF2-40B4-BE49-F238E27FC236}">
                <a16:creationId xmlns:a16="http://schemas.microsoft.com/office/drawing/2014/main" id="{ACFA0FF1-2F06-0B85-3561-81C7FBA206EB}"/>
              </a:ext>
            </a:extLst>
          </p:cNvPr>
          <p:cNvPicPr>
            <a:picLocks noChangeAspect="1"/>
          </p:cNvPicPr>
          <p:nvPr/>
        </p:nvPicPr>
        <p:blipFill>
          <a:blip r:embed="rId2"/>
          <a:stretch>
            <a:fillRect/>
          </a:stretch>
        </p:blipFill>
        <p:spPr>
          <a:xfrm>
            <a:off x="838200" y="1690688"/>
            <a:ext cx="10135315" cy="1577147"/>
          </a:xfrm>
          <a:prstGeom prst="rect">
            <a:avLst/>
          </a:prstGeom>
        </p:spPr>
      </p:pic>
    </p:spTree>
    <p:extLst>
      <p:ext uri="{BB962C8B-B14F-4D97-AF65-F5344CB8AC3E}">
        <p14:creationId xmlns:p14="http://schemas.microsoft.com/office/powerpoint/2010/main" val="2017975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EBAAC-A0BA-8DBE-A19E-2297829C72A7}"/>
              </a:ext>
            </a:extLst>
          </p:cNvPr>
          <p:cNvSpPr>
            <a:spLocks noGrp="1"/>
          </p:cNvSpPr>
          <p:nvPr>
            <p:ph type="title"/>
          </p:nvPr>
        </p:nvSpPr>
        <p:spPr>
          <a:xfrm>
            <a:off x="0" y="0"/>
            <a:ext cx="12192000" cy="1325563"/>
          </a:xfrm>
        </p:spPr>
        <p:txBody>
          <a:bodyPr/>
          <a:lstStyle/>
          <a:p>
            <a:r>
              <a:rPr lang="en-US" dirty="0"/>
              <a:t>Back-to-simulation attribution</a:t>
            </a:r>
          </a:p>
        </p:txBody>
      </p:sp>
      <p:pic>
        <p:nvPicPr>
          <p:cNvPr id="5" name="Picture 4">
            <a:extLst>
              <a:ext uri="{FF2B5EF4-FFF2-40B4-BE49-F238E27FC236}">
                <a16:creationId xmlns:a16="http://schemas.microsoft.com/office/drawing/2014/main" id="{CD2F3068-5BF0-6869-691C-7F71B62F3D01}"/>
              </a:ext>
            </a:extLst>
          </p:cNvPr>
          <p:cNvPicPr>
            <a:picLocks noChangeAspect="1"/>
          </p:cNvPicPr>
          <p:nvPr/>
        </p:nvPicPr>
        <p:blipFill>
          <a:blip r:embed="rId2"/>
          <a:stretch>
            <a:fillRect/>
          </a:stretch>
        </p:blipFill>
        <p:spPr>
          <a:xfrm>
            <a:off x="394744" y="1325563"/>
            <a:ext cx="6481854" cy="5039856"/>
          </a:xfrm>
          <a:prstGeom prst="rect">
            <a:avLst/>
          </a:prstGeom>
        </p:spPr>
      </p:pic>
      <p:sp>
        <p:nvSpPr>
          <p:cNvPr id="7" name="TextBox 6">
            <a:extLst>
              <a:ext uri="{FF2B5EF4-FFF2-40B4-BE49-F238E27FC236}">
                <a16:creationId xmlns:a16="http://schemas.microsoft.com/office/drawing/2014/main" id="{D519581E-7A6E-03C4-12FB-83FB12EA15EE}"/>
              </a:ext>
            </a:extLst>
          </p:cNvPr>
          <p:cNvSpPr txBox="1"/>
          <p:nvPr/>
        </p:nvSpPr>
        <p:spPr>
          <a:xfrm>
            <a:off x="7077015" y="1860332"/>
            <a:ext cx="4453194" cy="3970318"/>
          </a:xfrm>
          <a:prstGeom prst="rect">
            <a:avLst/>
          </a:prstGeom>
          <a:noFill/>
        </p:spPr>
        <p:txBody>
          <a:bodyPr wrap="square">
            <a:spAutoFit/>
          </a:bodyPr>
          <a:lstStyle/>
          <a:p>
            <a:r>
              <a:rPr lang="en-US" dirty="0"/>
              <a:t>Back-to-simulation attribution retrieves the 50 most similar synthetic outbreaks to a</a:t>
            </a:r>
          </a:p>
          <a:p>
            <a:r>
              <a:rPr lang="en-US" dirty="0"/>
              <a:t>real-world input and visualizes the distribution of their underlying mechanistic parameters.</a:t>
            </a:r>
          </a:p>
          <a:p>
            <a:endParaRPr lang="en-US" dirty="0"/>
          </a:p>
          <a:p>
            <a:r>
              <a:rPr lang="en-US" dirty="0"/>
              <a:t>For Michigan COVID-19 mortality, the retrieved simulations align closely with true estimates for hospitalization rate, population size, asymptomatic transmission rate, and hospitalization fatality rate (dashed lines) , confirming</a:t>
            </a:r>
          </a:p>
          <a:p>
            <a:r>
              <a:rPr lang="en-US" dirty="0"/>
              <a:t>that the SGNN’s internal representations encode meaningful mechanistic structure.</a:t>
            </a:r>
          </a:p>
        </p:txBody>
      </p:sp>
    </p:spTree>
    <p:extLst>
      <p:ext uri="{BB962C8B-B14F-4D97-AF65-F5344CB8AC3E}">
        <p14:creationId xmlns:p14="http://schemas.microsoft.com/office/powerpoint/2010/main" val="249619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DC816-2569-4D09-5067-5247A24A3D1B}"/>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54807529-EDB1-FECD-D19F-DF201BAB84EC}"/>
              </a:ext>
            </a:extLst>
          </p:cNvPr>
          <p:cNvSpPr>
            <a:spLocks noGrp="1"/>
          </p:cNvSpPr>
          <p:nvPr>
            <p:ph idx="1"/>
          </p:nvPr>
        </p:nvSpPr>
        <p:spPr>
          <a:xfrm>
            <a:off x="463463" y="1825625"/>
            <a:ext cx="10890337" cy="4351338"/>
          </a:xfrm>
        </p:spPr>
        <p:txBody>
          <a:bodyPr>
            <a:normAutofit/>
          </a:bodyPr>
          <a:lstStyle/>
          <a:p>
            <a:r>
              <a:rPr lang="en-US" dirty="0"/>
              <a:t>Performance depends fundamentally on simulation quality: if key mechanisms are absent from the training simulators, performance can be substantially degraded.</a:t>
            </a:r>
          </a:p>
          <a:p>
            <a:r>
              <a:rPr lang="en-US" dirty="0"/>
              <a:t>Even with realistic noise models and observational artifacts, Dudley et al. anticipate that systematic differences between synthetic and real data will hurt performance.</a:t>
            </a:r>
          </a:p>
          <a:p>
            <a:r>
              <a:rPr lang="en-US" dirty="0"/>
              <a:t>Results show promising zero-shot transfer (e.g., human-to-human models predicting vector-borne disease), Dudley et al. cannot predict a priori which cross-domain generalizations will succeed</a:t>
            </a:r>
          </a:p>
        </p:txBody>
      </p:sp>
    </p:spTree>
    <p:extLst>
      <p:ext uri="{BB962C8B-B14F-4D97-AF65-F5344CB8AC3E}">
        <p14:creationId xmlns:p14="http://schemas.microsoft.com/office/powerpoint/2010/main" val="3875218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87F70-765D-9D0F-B6C3-F3DA5CD2C8A3}"/>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C33657DA-620A-AB31-F6C4-885BE2DB49C4}"/>
              </a:ext>
            </a:extLst>
          </p:cNvPr>
          <p:cNvSpPr>
            <a:spLocks noGrp="1"/>
          </p:cNvSpPr>
          <p:nvPr>
            <p:ph idx="1"/>
          </p:nvPr>
        </p:nvSpPr>
        <p:spPr/>
        <p:txBody>
          <a:bodyPr>
            <a:normAutofit/>
          </a:bodyPr>
          <a:lstStyle/>
          <a:p>
            <a:r>
              <a:rPr lang="en-US" dirty="0"/>
              <a:t>Generating comprehensive simulation corpora can be computationally expensive, particularly for high-fidelity mechanistic models - may be prohibitive for extremely expensive simulator.</a:t>
            </a:r>
          </a:p>
          <a:p>
            <a:r>
              <a:rPr lang="en-US" dirty="0"/>
              <a:t>Back-to-simulation attribution reveals what the model believes is happening mechanistically, but that can be wrong.</a:t>
            </a:r>
          </a:p>
          <a:p>
            <a:r>
              <a:rPr lang="en-US" dirty="0"/>
              <a:t>Retrieved simulations reflect learned associations that, while often informative, can be incorrect and depend heavily on the simulation prior.</a:t>
            </a:r>
          </a:p>
        </p:txBody>
      </p:sp>
    </p:spTree>
    <p:extLst>
      <p:ext uri="{BB962C8B-B14F-4D97-AF65-F5344CB8AC3E}">
        <p14:creationId xmlns:p14="http://schemas.microsoft.com/office/powerpoint/2010/main" val="3092883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20F17-4C12-3127-6374-2B8A462DBD18}"/>
              </a:ext>
            </a:extLst>
          </p:cNvPr>
          <p:cNvSpPr>
            <a:spLocks noGrp="1"/>
          </p:cNvSpPr>
          <p:nvPr>
            <p:ph type="title"/>
          </p:nvPr>
        </p:nvSpPr>
        <p:spPr/>
        <p:txBody>
          <a:bodyPr/>
          <a:lstStyle/>
          <a:p>
            <a:r>
              <a:rPr lang="en-US" dirty="0"/>
              <a:t>My thoughts for our group</a:t>
            </a:r>
          </a:p>
        </p:txBody>
      </p:sp>
      <p:sp>
        <p:nvSpPr>
          <p:cNvPr id="3" name="Content Placeholder 2">
            <a:extLst>
              <a:ext uri="{FF2B5EF4-FFF2-40B4-BE49-F238E27FC236}">
                <a16:creationId xmlns:a16="http://schemas.microsoft.com/office/drawing/2014/main" id="{6F98FF52-C07F-F244-B2B5-1B1687EB3AFD}"/>
              </a:ext>
            </a:extLst>
          </p:cNvPr>
          <p:cNvSpPr>
            <a:spLocks noGrp="1"/>
          </p:cNvSpPr>
          <p:nvPr>
            <p:ph idx="1"/>
          </p:nvPr>
        </p:nvSpPr>
        <p:spPr/>
        <p:txBody>
          <a:bodyPr/>
          <a:lstStyle/>
          <a:p>
            <a:r>
              <a:rPr lang="en-US" dirty="0"/>
              <a:t>This sounds very promising and an obvious test of our capability to implement SGNN methods is to apply this same methodology to Canadian COVID-19 data (in the same way  Dudley et al. considers US COVID-19 data).</a:t>
            </a:r>
          </a:p>
          <a:p>
            <a:pPr marL="0" indent="0">
              <a:buNone/>
            </a:pPr>
            <a:endParaRPr lang="en-US" dirty="0"/>
          </a:p>
        </p:txBody>
      </p:sp>
    </p:spTree>
    <p:extLst>
      <p:ext uri="{BB962C8B-B14F-4D97-AF65-F5344CB8AC3E}">
        <p14:creationId xmlns:p14="http://schemas.microsoft.com/office/powerpoint/2010/main" val="401373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C6FFA-0FB2-6585-7CF8-D03712826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89D06-FEA0-A291-7123-D2797C52194C}"/>
              </a:ext>
            </a:extLst>
          </p:cNvPr>
          <p:cNvSpPr>
            <a:spLocks noGrp="1"/>
          </p:cNvSpPr>
          <p:nvPr>
            <p:ph type="title"/>
          </p:nvPr>
        </p:nvSpPr>
        <p:spPr/>
        <p:txBody>
          <a:bodyPr/>
          <a:lstStyle/>
          <a:p>
            <a:r>
              <a:rPr lang="en-US" dirty="0"/>
              <a:t>My thoughts for our group</a:t>
            </a:r>
          </a:p>
        </p:txBody>
      </p:sp>
      <p:sp>
        <p:nvSpPr>
          <p:cNvPr id="3" name="Content Placeholder 2">
            <a:extLst>
              <a:ext uri="{FF2B5EF4-FFF2-40B4-BE49-F238E27FC236}">
                <a16:creationId xmlns:a16="http://schemas.microsoft.com/office/drawing/2014/main" id="{5B4D3133-C77E-16BC-4C7F-4DF720B75BE3}"/>
              </a:ext>
            </a:extLst>
          </p:cNvPr>
          <p:cNvSpPr>
            <a:spLocks noGrp="1"/>
          </p:cNvSpPr>
          <p:nvPr>
            <p:ph idx="1"/>
          </p:nvPr>
        </p:nvSpPr>
        <p:spPr>
          <a:xfrm>
            <a:off x="838200" y="1690688"/>
            <a:ext cx="10515600" cy="4351338"/>
          </a:xfrm>
        </p:spPr>
        <p:txBody>
          <a:bodyPr>
            <a:normAutofit lnSpcReduction="10000"/>
          </a:bodyPr>
          <a:lstStyle/>
          <a:p>
            <a:r>
              <a:rPr lang="en-US" dirty="0"/>
              <a:t>I found the demonstration of the back-to-simulation approach to demonstrate explainability lacking. This was shown for parameter values (i.e. population size, asymptomatic probability), but I am more interested in the structure of the training models that are most similar to the SGNN.</a:t>
            </a:r>
          </a:p>
          <a:p>
            <a:r>
              <a:rPr lang="en-US" dirty="0"/>
              <a:t>The ablation studies showed that mechanism is a necessary component of high performance. This tells us what doesn’t work, but is vague in terms of understanding what does work.</a:t>
            </a:r>
          </a:p>
          <a:p>
            <a:r>
              <a:rPr lang="en-US" dirty="0"/>
              <a:t>What was the structure of the top 50 training models and what does this tell us about the mechanistic features (i.e., reporting gaps, consideration of asymptomatic individuals) that are critical?</a:t>
            </a:r>
          </a:p>
        </p:txBody>
      </p:sp>
    </p:spTree>
    <p:extLst>
      <p:ext uri="{BB962C8B-B14F-4D97-AF65-F5344CB8AC3E}">
        <p14:creationId xmlns:p14="http://schemas.microsoft.com/office/powerpoint/2010/main" val="3008968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1960-7DC8-32E9-049C-CA20FFA3D2B6}"/>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75A922D3-A4CF-306E-FBAD-472EF1F350FA}"/>
              </a:ext>
            </a:extLst>
          </p:cNvPr>
          <p:cNvSpPr>
            <a:spLocks noGrp="1"/>
          </p:cNvSpPr>
          <p:nvPr>
            <p:ph idx="1"/>
          </p:nvPr>
        </p:nvSpPr>
        <p:spPr/>
        <p:txBody>
          <a:bodyPr/>
          <a:lstStyle/>
          <a:p>
            <a:pPr marL="0" indent="0">
              <a:buNone/>
            </a:pPr>
            <a:r>
              <a:rPr lang="en-US" dirty="0"/>
              <a:t>1. Clone repository: </a:t>
            </a:r>
            <a:r>
              <a:rPr lang="en-US" dirty="0">
                <a:hlinkClick r:id="rId2"/>
              </a:rPr>
              <a:t>https://github.com/carsondudley1/SGNNs</a:t>
            </a:r>
            <a:endParaRPr lang="en-US" dirty="0"/>
          </a:p>
          <a:p>
            <a:pPr marL="0" indent="0">
              <a:buNone/>
            </a:pPr>
            <a:r>
              <a:rPr lang="en-US" dirty="0"/>
              <a:t>2. Install python and work through training module</a:t>
            </a:r>
          </a:p>
          <a:p>
            <a:pPr marL="0" indent="0">
              <a:buNone/>
            </a:pPr>
            <a:r>
              <a:rPr lang="en-US" dirty="0"/>
              <a:t>3. Apply to Canadian COVID-19 data: </a:t>
            </a:r>
            <a:r>
              <a:rPr lang="en-US" dirty="0">
                <a:hlinkClick r:id="rId3"/>
              </a:rPr>
              <a:t>https://open.canada.ca/data/en/dataset/261c32ab-4cfd-4f81-9dea-7b64065690dc/resource/39434379-45a1-43d5-aea7-a7a50113c291</a:t>
            </a:r>
            <a:endParaRPr lang="en-US" dirty="0"/>
          </a:p>
          <a:p>
            <a:pPr marL="0" indent="0">
              <a:buNone/>
            </a:pPr>
            <a:endParaRPr lang="en-US" dirty="0"/>
          </a:p>
          <a:p>
            <a:pPr marL="0" indent="0">
              <a:buNone/>
            </a:pPr>
            <a:r>
              <a:rPr lang="en-US" dirty="0"/>
              <a:t>(if you do this – and you are welcome to - please collaborate with Binod who is doing this for his MSc capstone project)</a:t>
            </a:r>
          </a:p>
          <a:p>
            <a:pPr marL="0" indent="0">
              <a:buNone/>
            </a:pPr>
            <a:endParaRPr lang="en-US" dirty="0"/>
          </a:p>
        </p:txBody>
      </p:sp>
    </p:spTree>
    <p:extLst>
      <p:ext uri="{BB962C8B-B14F-4D97-AF65-F5344CB8AC3E}">
        <p14:creationId xmlns:p14="http://schemas.microsoft.com/office/powerpoint/2010/main" val="1425443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056A-EEB7-EB00-F61C-01AD197419DF}"/>
              </a:ext>
            </a:extLst>
          </p:cNvPr>
          <p:cNvSpPr>
            <a:spLocks noGrp="1"/>
          </p:cNvSpPr>
          <p:nvPr>
            <p:ph type="title"/>
          </p:nvPr>
        </p:nvSpPr>
        <p:spPr/>
        <p:txBody>
          <a:bodyPr/>
          <a:lstStyle/>
          <a:p>
            <a:r>
              <a:rPr lang="en-US" dirty="0"/>
              <a:t>Your thoughts for our group</a:t>
            </a:r>
          </a:p>
        </p:txBody>
      </p:sp>
      <p:sp>
        <p:nvSpPr>
          <p:cNvPr id="3" name="Content Placeholder 2">
            <a:extLst>
              <a:ext uri="{FF2B5EF4-FFF2-40B4-BE49-F238E27FC236}">
                <a16:creationId xmlns:a16="http://schemas.microsoft.com/office/drawing/2014/main" id="{4D39CEB5-F885-6566-D490-BB4072B669BA}"/>
              </a:ext>
            </a:extLst>
          </p:cNvPr>
          <p:cNvSpPr>
            <a:spLocks noGrp="1"/>
          </p:cNvSpPr>
          <p:nvPr>
            <p:ph idx="1"/>
          </p:nvPr>
        </p:nvSpPr>
        <p:spPr/>
        <p:txBody>
          <a:bodyPr/>
          <a:lstStyle/>
          <a:p>
            <a:r>
              <a:rPr lang="en-US" dirty="0"/>
              <a:t>Add your thoughts here</a:t>
            </a:r>
          </a:p>
        </p:txBody>
      </p:sp>
    </p:spTree>
    <p:extLst>
      <p:ext uri="{BB962C8B-B14F-4D97-AF65-F5344CB8AC3E}">
        <p14:creationId xmlns:p14="http://schemas.microsoft.com/office/powerpoint/2010/main" val="2963340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320</TotalTime>
  <Words>1445</Words>
  <Application>Microsoft Macintosh PowerPoint</Application>
  <PresentationFormat>Widescreen</PresentationFormat>
  <Paragraphs>93</Paragraphs>
  <Slides>26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Simulation as a supervisor: mechanistic pretraining for scientific discovery</vt:lpstr>
      <vt:lpstr>SGNN</vt:lpstr>
      <vt:lpstr>Related, but different, frameworks</vt:lpstr>
      <vt:lpstr>Simulation of training data/structural uncertainty</vt:lpstr>
      <vt:lpstr>SGNN</vt:lpstr>
      <vt:lpstr>SGNN</vt:lpstr>
      <vt:lpstr>SGNN</vt:lpstr>
      <vt:lpstr>SGNN</vt:lpstr>
      <vt:lpstr>SGNN: Key capabilities</vt:lpstr>
      <vt:lpstr>PowerPoint Presentation</vt:lpstr>
      <vt:lpstr>PowerPoint Presentation</vt:lpstr>
      <vt:lpstr>PowerPoint Presentation</vt:lpstr>
      <vt:lpstr>SGNN outputs for epidemic model</vt:lpstr>
      <vt:lpstr>Model performance</vt:lpstr>
      <vt:lpstr>PowerPoint Presentation</vt:lpstr>
      <vt:lpstr>Ablation study and importance of mechanistic grounding</vt:lpstr>
      <vt:lpstr>Conclusion from ablation studies</vt:lpstr>
      <vt:lpstr>Estimating unobservable targets</vt:lpstr>
      <vt:lpstr>Back-to-simulation attribution</vt:lpstr>
      <vt:lpstr>Back-to-simulation attribution</vt:lpstr>
      <vt:lpstr>Limitations</vt:lpstr>
      <vt:lpstr>Limitations</vt:lpstr>
      <vt:lpstr>My thoughts for our group</vt:lpstr>
      <vt:lpstr>My thoughts for our group</vt:lpstr>
      <vt:lpstr>Next steps</vt:lpstr>
      <vt:lpstr>Your thoughts for our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Hurford, Amy</dc:creator>
  <cp:lastModifiedBy>Hurford, Amy</cp:lastModifiedBy>
  <cp:revision>19</cp:revision>
  <dcterms:created xsi:type="dcterms:W3CDTF">2026-05-12T08:47:15Z</dcterms:created>
  <dcterms:modified xsi:type="dcterms:W3CDTF">2026-05-14T13:53:24Z</dcterms:modified>
</cp:coreProperties>
</file>